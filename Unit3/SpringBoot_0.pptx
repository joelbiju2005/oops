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0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Spring Boot	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Department of Computer Science and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82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GB" sz="3200" dirty="0" smtClean="0"/>
              <a:t>Spring boot: Overview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Spring Boot</a:t>
            </a:r>
            <a:r>
              <a:rPr lang="en-IN" sz="2800" dirty="0"/>
              <a:t> is a framework built on top of the Spring Framework that simplifies the development of Java-based applications, especially web and </a:t>
            </a:r>
            <a:r>
              <a:rPr lang="en-IN" sz="2800" dirty="0" err="1"/>
              <a:t>microservices</a:t>
            </a:r>
            <a:r>
              <a:rPr lang="en-IN" sz="2800" dirty="0"/>
              <a:t>.</a:t>
            </a:r>
          </a:p>
          <a:p>
            <a:r>
              <a:rPr lang="en-IN" sz="2800" dirty="0"/>
              <a:t>Spring Boot eliminates a lot of manual configuration required in traditional Spring applications. </a:t>
            </a:r>
            <a:endParaRPr lang="en-IN" sz="2800" dirty="0" smtClean="0"/>
          </a:p>
          <a:p>
            <a:r>
              <a:rPr lang="en-IN" sz="2800" dirty="0" smtClean="0"/>
              <a:t>It </a:t>
            </a:r>
            <a:r>
              <a:rPr lang="en-IN" sz="2800" dirty="0"/>
              <a:t>helps developers quickly create </a:t>
            </a:r>
            <a:r>
              <a:rPr lang="en-IN" sz="2800" b="1" dirty="0"/>
              <a:t>standalone, production-ready applications</a:t>
            </a:r>
            <a:r>
              <a:rPr lang="en-IN" sz="2800" dirty="0"/>
              <a:t> with minimal setup.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8837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GB" sz="3200" dirty="0" smtClean="0"/>
              <a:t>Key Features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lvl="0"/>
            <a:r>
              <a:rPr lang="en-IN" sz="2800" b="1" dirty="0"/>
              <a:t>Auto-configuration</a:t>
            </a:r>
            <a:r>
              <a:rPr lang="en-IN" sz="2800" dirty="0"/>
              <a:t>: Automatically configures your application based on dependencies. </a:t>
            </a:r>
          </a:p>
          <a:p>
            <a:pPr lvl="0"/>
            <a:r>
              <a:rPr lang="en-IN" sz="2800" b="1" dirty="0"/>
              <a:t>Standalone apps</a:t>
            </a:r>
            <a:r>
              <a:rPr lang="en-IN" sz="2800" dirty="0"/>
              <a:t>: Runs using an embedded server like Apache Tomcat or Jetty (no need to deploy separately). </a:t>
            </a:r>
          </a:p>
          <a:p>
            <a:pPr lvl="0"/>
            <a:r>
              <a:rPr lang="en-IN" sz="2800" b="1" dirty="0"/>
              <a:t>Starter dependencies</a:t>
            </a:r>
            <a:r>
              <a:rPr lang="en-IN" sz="2800" dirty="0"/>
              <a:t>: Predefined dependency sets (e.g., spring-boot-starter-web). </a:t>
            </a:r>
          </a:p>
          <a:p>
            <a:pPr lvl="0"/>
            <a:r>
              <a:rPr lang="en-IN" sz="2800" b="1" dirty="0"/>
              <a:t>No XML configuration</a:t>
            </a:r>
            <a:r>
              <a:rPr lang="en-IN" sz="2800" dirty="0"/>
              <a:t>: Uses annotations instead of complex XML files. </a:t>
            </a:r>
          </a:p>
          <a:p>
            <a:pPr lvl="0"/>
            <a:r>
              <a:rPr lang="en-IN" sz="2800" b="1" dirty="0"/>
              <a:t>Production-ready</a:t>
            </a:r>
            <a:r>
              <a:rPr lang="en-IN" sz="2800" dirty="0"/>
              <a:t>: Includes monitoring and metrics via Actuator. 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IN" sz="3200" b="1" dirty="0" smtClean="0"/>
              <a:t/>
            </a:r>
            <a:br>
              <a:rPr lang="en-IN" sz="3200" b="1" dirty="0" smtClean="0"/>
            </a:br>
            <a:r>
              <a:rPr lang="en-IN" sz="3200" b="1" dirty="0" smtClean="0"/>
              <a:t>Why </a:t>
            </a:r>
            <a:r>
              <a:rPr lang="en-IN" sz="3200" b="1" dirty="0"/>
              <a:t>use Spring Boot?</a:t>
            </a:r>
            <a:r>
              <a:rPr lang="en-IN" sz="3200" dirty="0"/>
              <a:t/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800" dirty="0"/>
              <a:t>Faster development </a:t>
            </a:r>
          </a:p>
          <a:p>
            <a:pPr lvl="0"/>
            <a:r>
              <a:rPr lang="en-IN" sz="2800" dirty="0"/>
              <a:t>Less boilerplate code </a:t>
            </a:r>
          </a:p>
          <a:p>
            <a:pPr lvl="0"/>
            <a:r>
              <a:rPr lang="en-IN" sz="2800" dirty="0"/>
              <a:t>Easy integration with databases and APIs </a:t>
            </a:r>
          </a:p>
          <a:p>
            <a:pPr lvl="0"/>
            <a:r>
              <a:rPr lang="en-IN" sz="2800" dirty="0"/>
              <a:t>Ideal for </a:t>
            </a:r>
            <a:r>
              <a:rPr lang="en-IN" sz="2800" b="1" dirty="0" err="1"/>
              <a:t>microservices</a:t>
            </a:r>
            <a:r>
              <a:rPr lang="en-IN" sz="2800" b="1" dirty="0"/>
              <a:t> architecture</a:t>
            </a:r>
            <a:r>
              <a:rPr lang="en-IN" sz="2800" dirty="0"/>
              <a:t> </a:t>
            </a:r>
            <a:endParaRPr lang="en-IN" sz="2800" dirty="0" smtClean="0"/>
          </a:p>
          <a:p>
            <a:pPr lvl="0"/>
            <a:endParaRPr lang="en-GB" sz="2800" dirty="0"/>
          </a:p>
          <a:p>
            <a:r>
              <a:rPr lang="en-IN" sz="2800" b="1" dirty="0"/>
              <a:t>Typical Use Cases</a:t>
            </a:r>
            <a:endParaRPr lang="en-IN" sz="2800" dirty="0"/>
          </a:p>
          <a:p>
            <a:pPr lvl="1"/>
            <a:r>
              <a:rPr lang="en-IN" dirty="0"/>
              <a:t>Web applications </a:t>
            </a:r>
            <a:endParaRPr lang="en-IN" sz="2400" dirty="0"/>
          </a:p>
          <a:p>
            <a:pPr lvl="1"/>
            <a:r>
              <a:rPr lang="en-IN" dirty="0" smtClean="0"/>
              <a:t>REST(</a:t>
            </a:r>
            <a:r>
              <a:rPr lang="en-IN" dirty="0"/>
              <a:t>Representational State Transfer API</a:t>
            </a:r>
            <a:r>
              <a:rPr lang="en-IN" dirty="0" smtClean="0"/>
              <a:t>) APIs</a:t>
            </a:r>
          </a:p>
          <a:p>
            <a:pPr lvl="2"/>
            <a:r>
              <a:rPr lang="en-IN" dirty="0" smtClean="0"/>
              <a:t>Communicate using HTTP methods </a:t>
            </a:r>
            <a:endParaRPr lang="en-IN" sz="2000" dirty="0"/>
          </a:p>
          <a:p>
            <a:pPr lvl="1"/>
            <a:r>
              <a:rPr lang="en-IN" dirty="0" err="1"/>
              <a:t>Microservices</a:t>
            </a:r>
            <a:r>
              <a:rPr lang="en-IN" dirty="0"/>
              <a:t> </a:t>
            </a:r>
            <a:endParaRPr lang="en-IN" sz="2400" dirty="0"/>
          </a:p>
          <a:p>
            <a:pPr lvl="1"/>
            <a:r>
              <a:rPr lang="en-IN" dirty="0"/>
              <a:t>Enterprise applications </a:t>
            </a:r>
            <a:endParaRPr lang="en-IN" sz="2400" dirty="0"/>
          </a:p>
          <a:p>
            <a:pPr lvl="1"/>
            <a:endParaRPr lang="en-IN" sz="24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IN" sz="3200" b="1" dirty="0" smtClean="0"/>
              <a:t/>
            </a:r>
            <a:br>
              <a:rPr lang="en-IN" sz="3200" b="1" dirty="0" smtClean="0"/>
            </a:br>
            <a:r>
              <a:rPr lang="en-IN" sz="3200" b="1" dirty="0" smtClean="0"/>
              <a:t>Simple </a:t>
            </a:r>
            <a:r>
              <a:rPr lang="en-IN" sz="3200" b="1" dirty="0"/>
              <a:t>Flow</a:t>
            </a:r>
            <a:r>
              <a:rPr lang="en-IN" sz="3200" dirty="0"/>
              <a:t/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lvl="0"/>
            <a:r>
              <a:rPr lang="en-IN" sz="2800" dirty="0" smtClean="0"/>
              <a:t>Add </a:t>
            </a:r>
            <a:r>
              <a:rPr lang="en-IN" sz="2800" dirty="0"/>
              <a:t>dependencies </a:t>
            </a:r>
          </a:p>
          <a:p>
            <a:pPr lvl="0"/>
            <a:r>
              <a:rPr lang="en-IN" sz="2800" dirty="0"/>
              <a:t>Write main class with @</a:t>
            </a:r>
            <a:r>
              <a:rPr lang="en-IN" sz="2800" dirty="0" err="1"/>
              <a:t>SpringBootApplication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Create controllers/services </a:t>
            </a:r>
          </a:p>
          <a:p>
            <a:pPr lvl="0"/>
            <a:r>
              <a:rPr lang="en-IN" sz="2800" dirty="0"/>
              <a:t>Run the app → starts embedded server automatically </a:t>
            </a:r>
          </a:p>
          <a:p>
            <a:endParaRPr lang="en-GB" sz="2800" dirty="0" smtClean="0"/>
          </a:p>
          <a:p>
            <a:endParaRPr lang="en-GB" sz="2800" dirty="0"/>
          </a:p>
          <a:p>
            <a:r>
              <a:rPr lang="en-IN" sz="2800" dirty="0" smtClean="0"/>
              <a:t>Note: Spring </a:t>
            </a:r>
            <a:r>
              <a:rPr lang="en-IN" sz="2800" dirty="0"/>
              <a:t>Boot makes Java development </a:t>
            </a:r>
            <a:r>
              <a:rPr lang="en-IN" sz="2800" b="1" dirty="0"/>
              <a:t>faster, simpler, and more efficient</a:t>
            </a:r>
            <a:r>
              <a:rPr lang="en-IN" sz="2800" dirty="0"/>
              <a:t> by handling most of the setup for you.</a:t>
            </a:r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IN" sz="3200" b="1" dirty="0"/>
              <a:t>Spring Boot – Key Features 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dirty="0"/>
              <a:t>Spring Boot, built on the Spring Framework, provides several features that simplify Java application development</a:t>
            </a:r>
            <a:r>
              <a:rPr lang="en-IN" sz="2800" dirty="0" smtClean="0"/>
              <a:t>:</a:t>
            </a:r>
            <a:endParaRPr lang="en-IN" sz="2400" dirty="0" smtClean="0"/>
          </a:p>
          <a:p>
            <a:pPr marL="0" indent="0">
              <a:buNone/>
            </a:pPr>
            <a:r>
              <a:rPr lang="en-IN" sz="2800" dirty="0"/>
              <a:t>1. </a:t>
            </a:r>
            <a:r>
              <a:rPr lang="en-IN" sz="2800" dirty="0" smtClean="0"/>
              <a:t>Auto-Configuration</a:t>
            </a:r>
          </a:p>
          <a:p>
            <a:pPr lvl="1"/>
            <a:r>
              <a:rPr lang="en-IN" sz="2400" dirty="0"/>
              <a:t>Automatically configures your application based on the libraries (dependencies) you include. This reduces manual setup.</a:t>
            </a:r>
          </a:p>
          <a:p>
            <a:pPr marL="0" indent="0">
              <a:buNone/>
            </a:pPr>
            <a:r>
              <a:rPr lang="en-IN" dirty="0"/>
              <a:t>2. Starter </a:t>
            </a:r>
            <a:r>
              <a:rPr lang="en-IN" dirty="0" smtClean="0"/>
              <a:t>Dependencies</a:t>
            </a:r>
          </a:p>
          <a:p>
            <a:pPr lvl="1"/>
            <a:r>
              <a:rPr lang="en-IN" dirty="0"/>
              <a:t>Provides ready-made dependency packages like spring-boot-starter-web, so you don’t need to manage individual libraries.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3. Embedded </a:t>
            </a:r>
            <a:r>
              <a:rPr lang="en-IN" sz="2800" dirty="0" smtClean="0"/>
              <a:t>Servers</a:t>
            </a:r>
          </a:p>
          <a:p>
            <a:pPr lvl="1"/>
            <a:r>
              <a:rPr lang="en-IN" sz="2400" dirty="0"/>
              <a:t>Includes built-in servers like Apache Tomcat, Jetty, and Undertow, allowing applications to run independently without external deployment.</a:t>
            </a:r>
          </a:p>
          <a:p>
            <a:pPr marL="0" indent="0">
              <a:buNone/>
            </a:pPr>
            <a:r>
              <a:rPr lang="en-IN" dirty="0"/>
              <a:t>4. No XML </a:t>
            </a:r>
            <a:r>
              <a:rPr lang="en-IN" dirty="0" smtClean="0"/>
              <a:t>Configuration</a:t>
            </a:r>
          </a:p>
          <a:p>
            <a:pPr lvl="1"/>
            <a:r>
              <a:rPr lang="en-IN" dirty="0"/>
              <a:t>Uses annotations and Java-based configuration instead of complex XML files, making code cleaner and easier to </a:t>
            </a:r>
            <a:r>
              <a:rPr lang="en-IN" dirty="0" smtClean="0"/>
              <a:t>maintain</a:t>
            </a:r>
          </a:p>
          <a:p>
            <a:pPr marL="0" indent="0">
              <a:buNone/>
            </a:pPr>
            <a:r>
              <a:rPr lang="en-IN" dirty="0"/>
              <a:t>5. Production-Ready </a:t>
            </a:r>
            <a:r>
              <a:rPr lang="en-IN" dirty="0" smtClean="0"/>
              <a:t>Features</a:t>
            </a:r>
          </a:p>
          <a:p>
            <a:pPr lvl="1"/>
            <a:r>
              <a:rPr lang="en-IN" dirty="0"/>
              <a:t>Includes tools like Actuator for monitoring, health checks, and metrics.</a:t>
            </a:r>
          </a:p>
          <a:p>
            <a:pPr lvl="1"/>
            <a:endParaRPr lang="en-IN" dirty="0" smtClean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6. Easy </a:t>
            </a:r>
            <a:r>
              <a:rPr lang="en-IN" sz="2800" dirty="0" smtClean="0"/>
              <a:t>Integration</a:t>
            </a:r>
          </a:p>
          <a:p>
            <a:pPr lvl="1"/>
            <a:r>
              <a:rPr lang="en-IN" sz="2400" dirty="0"/>
              <a:t>Works smoothly with databases, messaging systems, and other frameworks.</a:t>
            </a:r>
          </a:p>
          <a:p>
            <a:pPr marL="0" indent="0">
              <a:buNone/>
            </a:pPr>
            <a:r>
              <a:rPr lang="en-IN" dirty="0" smtClean="0"/>
              <a:t>7. </a:t>
            </a:r>
            <a:r>
              <a:rPr lang="en-IN" dirty="0" err="1"/>
              <a:t>Microservices</a:t>
            </a:r>
            <a:r>
              <a:rPr lang="en-IN" dirty="0"/>
              <a:t> </a:t>
            </a:r>
            <a:r>
              <a:rPr lang="en-IN" dirty="0" smtClean="0"/>
              <a:t>Support</a:t>
            </a:r>
          </a:p>
          <a:p>
            <a:pPr lvl="1"/>
            <a:r>
              <a:rPr lang="en-IN" dirty="0"/>
              <a:t>Well-suited for building scalable </a:t>
            </a:r>
            <a:r>
              <a:rPr lang="en-IN" dirty="0" err="1"/>
              <a:t>microservices</a:t>
            </a:r>
            <a:r>
              <a:rPr lang="en-IN" dirty="0"/>
              <a:t> architectures.</a:t>
            </a:r>
          </a:p>
          <a:p>
            <a:r>
              <a:rPr lang="en-IN" dirty="0"/>
              <a:t>Spring Boot reduces configuration effort, speeds up development, and helps build robust, production-ready applications quickly.</a:t>
            </a:r>
          </a:p>
          <a:p>
            <a:endParaRPr lang="en-GB" dirty="0" smtClean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GB" sz="3200" dirty="0" smtClean="0"/>
              <a:t>Core components of Spring Boot Architecture</a:t>
            </a:r>
            <a:endParaRPr lang="en-IN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1. Spring Boot Application Layer</a:t>
            </a:r>
          </a:p>
          <a:p>
            <a:pPr lvl="1"/>
            <a:r>
              <a:rPr lang="en-IN" dirty="0"/>
              <a:t>This is the </a:t>
            </a:r>
            <a:r>
              <a:rPr lang="en-IN" b="1" dirty="0"/>
              <a:t>entry point</a:t>
            </a:r>
            <a:r>
              <a:rPr lang="en-IN" dirty="0"/>
              <a:t> of the application.</a:t>
            </a:r>
          </a:p>
          <a:p>
            <a:pPr lvl="1"/>
            <a:r>
              <a:rPr lang="en-IN" dirty="0"/>
              <a:t>Contains the main class annotated with @</a:t>
            </a:r>
            <a:r>
              <a:rPr lang="en-IN" dirty="0" err="1"/>
              <a:t>SpringBootApplication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Starts the application using </a:t>
            </a:r>
            <a:r>
              <a:rPr lang="en-IN" dirty="0" err="1"/>
              <a:t>SpringApplication.run</a:t>
            </a:r>
            <a:r>
              <a:rPr lang="en-IN" dirty="0"/>
              <a:t>() </a:t>
            </a:r>
          </a:p>
          <a:p>
            <a:pPr lvl="1"/>
            <a:r>
              <a:rPr lang="en-IN" dirty="0"/>
              <a:t>Bootstraps all configurations and components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2. Auto-Configuration Layer</a:t>
            </a:r>
            <a:endParaRPr lang="en-IN" sz="2800" dirty="0"/>
          </a:p>
          <a:p>
            <a:pPr lvl="1"/>
            <a:r>
              <a:rPr lang="en-IN" sz="2400" dirty="0"/>
              <a:t>Automatically configures beans based on dependencies present in the project </a:t>
            </a:r>
          </a:p>
          <a:p>
            <a:pPr lvl="1"/>
            <a:r>
              <a:rPr lang="en-IN" sz="2400" dirty="0"/>
              <a:t>Reduces manual configuration effort </a:t>
            </a:r>
          </a:p>
          <a:p>
            <a:pPr lvl="1"/>
            <a:r>
              <a:rPr lang="en-IN" sz="2400" dirty="0"/>
              <a:t>Example: If a web dependency is added, it auto-configures a web server like Apache Tomcat </a:t>
            </a:r>
            <a:endParaRPr lang="en-IN" sz="2400" dirty="0" smtClean="0"/>
          </a:p>
          <a:p>
            <a:pPr lvl="1"/>
            <a:endParaRPr lang="en-GB" sz="2400" dirty="0"/>
          </a:p>
          <a:p>
            <a:pPr marL="0" indent="0">
              <a:buNone/>
            </a:pPr>
            <a:r>
              <a:rPr lang="en-IN" b="1" dirty="0"/>
              <a:t>3. Starter Dependencies</a:t>
            </a:r>
            <a:endParaRPr lang="en-IN" sz="2400" dirty="0"/>
          </a:p>
          <a:p>
            <a:pPr lvl="1"/>
            <a:r>
              <a:rPr lang="en-IN" dirty="0"/>
              <a:t>Predefined dependency sets (e.g., spring-boot-starter-web</a:t>
            </a:r>
            <a:r>
              <a:rPr lang="en-IN" sz="4000" dirty="0"/>
              <a:t>, </a:t>
            </a:r>
            <a:r>
              <a:rPr lang="en-IN" dirty="0"/>
              <a:t>spring-boot-starter-data-</a:t>
            </a:r>
            <a:r>
              <a:rPr lang="en-IN" dirty="0" err="1"/>
              <a:t>jpa</a:t>
            </a:r>
            <a:r>
              <a:rPr lang="en-IN" sz="3600" dirty="0"/>
              <a:t>) </a:t>
            </a:r>
          </a:p>
          <a:p>
            <a:pPr lvl="1"/>
            <a:r>
              <a:rPr lang="en-IN" dirty="0"/>
              <a:t>Simplifies dependency management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4. Embedded Server</a:t>
            </a:r>
            <a:endParaRPr lang="en-IN" sz="2800" dirty="0"/>
          </a:p>
          <a:p>
            <a:pPr lvl="1"/>
            <a:r>
              <a:rPr lang="en-IN" sz="2400" dirty="0"/>
              <a:t>Runs applications using built-in servers such as Apache Tomcat, Jetty, or Undertow </a:t>
            </a:r>
          </a:p>
          <a:p>
            <a:pPr lvl="1"/>
            <a:r>
              <a:rPr lang="en-IN" sz="2400" dirty="0" smtClean="0"/>
              <a:t>Eliminates </a:t>
            </a:r>
            <a:r>
              <a:rPr lang="en-IN" sz="2400" dirty="0"/>
              <a:t>the need for external </a:t>
            </a:r>
            <a:r>
              <a:rPr lang="en-IN" sz="2400" dirty="0" smtClean="0"/>
              <a:t>deployment</a:t>
            </a:r>
          </a:p>
          <a:p>
            <a:pPr lvl="1"/>
            <a:endParaRPr lang="en-GB" sz="2400" dirty="0"/>
          </a:p>
          <a:p>
            <a:pPr marL="0" indent="0">
              <a:buNone/>
            </a:pPr>
            <a:r>
              <a:rPr lang="en-IN" b="1" dirty="0"/>
              <a:t>5. Spring MVC Layer (Web Layer)</a:t>
            </a:r>
            <a:endParaRPr lang="en-IN" sz="2400" dirty="0"/>
          </a:p>
          <a:p>
            <a:pPr lvl="1"/>
            <a:r>
              <a:rPr lang="en-IN" sz="2400" dirty="0"/>
              <a:t>Handles HTTP requests and responses </a:t>
            </a:r>
            <a:endParaRPr lang="en-IN" sz="2000" dirty="0"/>
          </a:p>
          <a:p>
            <a:pPr lvl="1"/>
            <a:r>
              <a:rPr lang="en-IN" sz="3200" dirty="0" smtClean="0"/>
              <a:t>Uses </a:t>
            </a:r>
            <a:r>
              <a:rPr lang="en-IN" sz="3200" dirty="0"/>
              <a:t>controllers (</a:t>
            </a:r>
            <a:r>
              <a:rPr lang="en-IN" sz="2400" dirty="0"/>
              <a:t>@Controller</a:t>
            </a:r>
            <a:r>
              <a:rPr lang="en-IN" sz="3200" dirty="0"/>
              <a:t>, </a:t>
            </a:r>
            <a:r>
              <a:rPr lang="en-IN" sz="2400" dirty="0"/>
              <a:t>@</a:t>
            </a:r>
            <a:r>
              <a:rPr lang="en-IN" sz="2400" dirty="0" err="1"/>
              <a:t>RestController</a:t>
            </a:r>
            <a:r>
              <a:rPr lang="en-IN" dirty="0"/>
              <a:t>) </a:t>
            </a:r>
          </a:p>
          <a:p>
            <a:pPr lvl="1"/>
            <a:r>
              <a:rPr lang="en-IN" sz="2400" dirty="0"/>
              <a:t>Implements REST APIs and web applications </a:t>
            </a:r>
            <a:endParaRPr lang="en-IN" sz="2000" dirty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6. Business Logic Layer (Service Layer)</a:t>
            </a:r>
            <a:endParaRPr lang="en-IN" sz="2800" dirty="0"/>
          </a:p>
          <a:p>
            <a:pPr lvl="1"/>
            <a:r>
              <a:rPr lang="en-IN" sz="2400" dirty="0"/>
              <a:t>Contains application logic </a:t>
            </a:r>
          </a:p>
          <a:p>
            <a:pPr lvl="1"/>
            <a:r>
              <a:rPr lang="en-IN" sz="2400" dirty="0"/>
              <a:t>Uses @Service annotation </a:t>
            </a:r>
          </a:p>
          <a:p>
            <a:pPr lvl="1"/>
            <a:r>
              <a:rPr lang="en-IN" sz="2400" dirty="0"/>
              <a:t>Acts as a bridge between controller and data layers </a:t>
            </a:r>
            <a:endParaRPr lang="en-IN" sz="2400" dirty="0" smtClean="0"/>
          </a:p>
          <a:p>
            <a:pPr marL="0" indent="0">
              <a:buNone/>
            </a:pPr>
            <a:r>
              <a:rPr lang="en-IN" sz="2800" b="1" dirty="0"/>
              <a:t>7. Data Access Layer (Repository Layer)</a:t>
            </a:r>
            <a:endParaRPr lang="en-IN" sz="2000" dirty="0"/>
          </a:p>
          <a:p>
            <a:pPr lvl="1"/>
            <a:r>
              <a:rPr lang="en-IN" sz="2400" dirty="0"/>
              <a:t>Interacts with the database </a:t>
            </a:r>
            <a:endParaRPr lang="en-IN" sz="2000" dirty="0"/>
          </a:p>
          <a:p>
            <a:pPr lvl="1"/>
            <a:r>
              <a:rPr lang="en-IN" sz="2000" dirty="0"/>
              <a:t>Uses Spring Data (e.g., JPA repositories) </a:t>
            </a:r>
          </a:p>
          <a:p>
            <a:pPr lvl="1"/>
            <a:r>
              <a:rPr lang="en-IN" sz="2000" dirty="0"/>
              <a:t>Handles CRUD operations</a:t>
            </a:r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8. Database Layer</a:t>
            </a:r>
          </a:p>
          <a:p>
            <a:pPr lvl="1"/>
            <a:r>
              <a:rPr lang="en-IN" sz="2400" dirty="0"/>
              <a:t>Stores application data </a:t>
            </a:r>
          </a:p>
          <a:p>
            <a:pPr lvl="1"/>
            <a:r>
              <a:rPr lang="en-IN" sz="2400" dirty="0"/>
              <a:t>Can use SQL or </a:t>
            </a:r>
            <a:r>
              <a:rPr lang="en-IN" sz="2400" dirty="0" err="1"/>
              <a:t>NoSQL</a:t>
            </a:r>
            <a:r>
              <a:rPr lang="en-IN" sz="2400" dirty="0"/>
              <a:t> databases (MySQL, </a:t>
            </a:r>
            <a:r>
              <a:rPr lang="en-IN" sz="2400" dirty="0" err="1"/>
              <a:t>MongoDB</a:t>
            </a:r>
            <a:r>
              <a:rPr lang="en-IN" sz="2400" dirty="0"/>
              <a:t>, etc.) </a:t>
            </a:r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Flow of Execution</a:t>
            </a:r>
          </a:p>
          <a:p>
            <a:pPr lvl="1"/>
            <a:r>
              <a:rPr lang="en-IN" sz="2400" dirty="0"/>
              <a:t>Client sends request </a:t>
            </a:r>
          </a:p>
          <a:p>
            <a:pPr lvl="1"/>
            <a:r>
              <a:rPr lang="en-IN" sz="2400" dirty="0"/>
              <a:t>Controller receives request </a:t>
            </a:r>
          </a:p>
          <a:p>
            <a:pPr lvl="1"/>
            <a:r>
              <a:rPr lang="en-IN" sz="2400" dirty="0"/>
              <a:t>Service processes business logic </a:t>
            </a:r>
          </a:p>
          <a:p>
            <a:pPr lvl="1"/>
            <a:r>
              <a:rPr lang="en-IN" sz="2400" dirty="0"/>
              <a:t>Repository interacts with database </a:t>
            </a:r>
          </a:p>
          <a:p>
            <a:pPr lvl="1"/>
            <a:r>
              <a:rPr lang="en-IN" sz="2400" dirty="0"/>
              <a:t>Response is sent back to client</a:t>
            </a:r>
          </a:p>
          <a:p>
            <a:r>
              <a:rPr lang="en-IN" sz="2800" b="1" dirty="0"/>
              <a:t>Simple Diagram (Conceptual)</a:t>
            </a:r>
          </a:p>
          <a:p>
            <a:r>
              <a:rPr lang="en-IN" sz="2800" dirty="0"/>
              <a:t>Client → Controller → Service → Repository → Database</a:t>
            </a:r>
            <a:br>
              <a:rPr lang="en-IN" sz="2800" dirty="0"/>
            </a:br>
            <a:r>
              <a:rPr lang="en-IN" sz="2800" dirty="0"/>
              <a:t>                ↑</a:t>
            </a:r>
            <a:br>
              <a:rPr lang="en-IN" sz="2800" dirty="0"/>
            </a:br>
            <a:r>
              <a:rPr lang="en-IN" sz="2800" dirty="0"/>
              <a:t>        Auto-Configuration + Embedded Server</a:t>
            </a:r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In short: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Spring Boot architecture is </a:t>
            </a:r>
            <a:r>
              <a:rPr lang="en-IN" sz="2800" b="1" dirty="0"/>
              <a:t>layered, modular, and automated</a:t>
            </a:r>
            <a:r>
              <a:rPr lang="en-IN" sz="2800" dirty="0"/>
              <a:t>, helping developers build scalable and maintainable applications with minimal configuration.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78347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GB" sz="3200" dirty="0" smtClean="0"/>
              <a:t>Spring Boot Layered Architecture</a:t>
            </a:r>
            <a:endParaRPr lang="en-IN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382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369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lvl="0"/>
            <a:r>
              <a:rPr lang="en-GB" sz="2800" dirty="0" smtClean="0"/>
              <a:t>Flow:</a:t>
            </a:r>
            <a:endParaRPr lang="en-IN" sz="2800" dirty="0" smtClean="0"/>
          </a:p>
          <a:p>
            <a:pPr lvl="1"/>
            <a:r>
              <a:rPr lang="en-IN" sz="2400" dirty="0" smtClean="0"/>
              <a:t>Client </a:t>
            </a:r>
            <a:r>
              <a:rPr lang="en-IN" sz="2400" dirty="0"/>
              <a:t>sends request </a:t>
            </a:r>
          </a:p>
          <a:p>
            <a:pPr lvl="1"/>
            <a:r>
              <a:rPr lang="en-IN" sz="2400" dirty="0"/>
              <a:t>Controller handles request </a:t>
            </a:r>
          </a:p>
          <a:p>
            <a:pPr lvl="1"/>
            <a:r>
              <a:rPr lang="en-IN" sz="2400" dirty="0"/>
              <a:t>Service processes logic </a:t>
            </a:r>
          </a:p>
          <a:p>
            <a:pPr lvl="1"/>
            <a:r>
              <a:rPr lang="en-IN" sz="2400" dirty="0"/>
              <a:t>Repository interacts with database </a:t>
            </a:r>
          </a:p>
          <a:p>
            <a:pPr lvl="1"/>
            <a:r>
              <a:rPr lang="en-IN" sz="2400" dirty="0"/>
              <a:t>Response is returned to client </a:t>
            </a:r>
          </a:p>
          <a:p>
            <a:pPr lvl="1"/>
            <a:r>
              <a:rPr lang="en-IN" sz="2400" dirty="0"/>
              <a:t>Auto-configuration and embedded server run in the background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81369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GB" sz="3200" dirty="0" smtClean="0"/>
              <a:t>Setting Up a Spring Boot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1. Go to Spring Initializer</a:t>
            </a:r>
          </a:p>
          <a:p>
            <a:pPr lvl="1"/>
            <a:r>
              <a:rPr lang="en-IN" sz="2400" dirty="0"/>
              <a:t>Use Spring </a:t>
            </a:r>
            <a:r>
              <a:rPr lang="en-IN" sz="2400" dirty="0" smtClean="0"/>
              <a:t>Initializer</a:t>
            </a:r>
            <a:endParaRPr lang="en-IN" sz="2400" dirty="0"/>
          </a:p>
          <a:p>
            <a:pPr lvl="2"/>
            <a:r>
              <a:rPr lang="en-IN" sz="2000" dirty="0"/>
              <a:t>It generates a ready-to-use Spring Boot project. </a:t>
            </a:r>
          </a:p>
          <a:p>
            <a:pPr marL="0" indent="0">
              <a:buNone/>
            </a:pPr>
            <a:r>
              <a:rPr lang="en-IN" b="1" dirty="0"/>
              <a:t>Select:</a:t>
            </a:r>
          </a:p>
          <a:p>
            <a:pPr lvl="1"/>
            <a:r>
              <a:rPr lang="en-IN" b="1" dirty="0"/>
              <a:t>Project</a:t>
            </a:r>
            <a:r>
              <a:rPr lang="en-IN" dirty="0"/>
              <a:t>: Maven </a:t>
            </a:r>
          </a:p>
          <a:p>
            <a:pPr lvl="1"/>
            <a:r>
              <a:rPr lang="en-IN" b="1" dirty="0"/>
              <a:t>Language</a:t>
            </a:r>
            <a:r>
              <a:rPr lang="en-IN" dirty="0"/>
              <a:t>: Java </a:t>
            </a:r>
          </a:p>
          <a:p>
            <a:pPr lvl="1"/>
            <a:r>
              <a:rPr lang="en-IN" b="1" dirty="0"/>
              <a:t>Spring Boot</a:t>
            </a:r>
            <a:r>
              <a:rPr lang="en-IN" dirty="0"/>
              <a:t>: Latest version </a:t>
            </a:r>
          </a:p>
          <a:p>
            <a:pPr lvl="1"/>
            <a:r>
              <a:rPr lang="en-IN" b="1" dirty="0"/>
              <a:t>Group</a:t>
            </a:r>
            <a:r>
              <a:rPr lang="en-IN" dirty="0"/>
              <a:t>: </a:t>
            </a:r>
            <a:r>
              <a:rPr lang="en-IN" dirty="0" err="1"/>
              <a:t>com.example</a:t>
            </a:r>
            <a:r>
              <a:rPr lang="en-IN" dirty="0"/>
              <a:t> </a:t>
            </a:r>
          </a:p>
          <a:p>
            <a:pPr lvl="1"/>
            <a:r>
              <a:rPr lang="en-IN" b="1" dirty="0" err="1"/>
              <a:t>Artifact</a:t>
            </a:r>
            <a:r>
              <a:rPr lang="en-IN" dirty="0"/>
              <a:t>: demo </a:t>
            </a:r>
          </a:p>
        </p:txBody>
      </p:sp>
    </p:spTree>
    <p:extLst>
      <p:ext uri="{BB962C8B-B14F-4D97-AF65-F5344CB8AC3E}">
        <p14:creationId xmlns:p14="http://schemas.microsoft.com/office/powerpoint/2010/main" val="2581369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2. Add Dependencies</a:t>
            </a:r>
          </a:p>
          <a:p>
            <a:pPr lvl="1"/>
            <a:r>
              <a:rPr lang="en-IN" sz="2400" dirty="0"/>
              <a:t>Choose based on your need:</a:t>
            </a:r>
          </a:p>
          <a:p>
            <a:pPr lvl="2"/>
            <a:r>
              <a:rPr lang="en-IN" sz="2000" b="1" dirty="0"/>
              <a:t>Spring Web</a:t>
            </a:r>
            <a:r>
              <a:rPr lang="en-IN" sz="2000" dirty="0"/>
              <a:t> → for web applications </a:t>
            </a:r>
          </a:p>
          <a:p>
            <a:pPr lvl="2"/>
            <a:r>
              <a:rPr lang="en-IN" sz="2000" b="1" dirty="0"/>
              <a:t>Spring Data JPA</a:t>
            </a:r>
            <a:r>
              <a:rPr lang="en-IN" sz="2000" dirty="0"/>
              <a:t> → for database </a:t>
            </a:r>
          </a:p>
          <a:p>
            <a:pPr lvl="2"/>
            <a:r>
              <a:rPr lang="en-IN" sz="2000" b="1" dirty="0"/>
              <a:t>MySQL Driver</a:t>
            </a:r>
            <a:r>
              <a:rPr lang="en-IN" sz="2000" dirty="0"/>
              <a:t> → if using MySQL</a:t>
            </a:r>
          </a:p>
          <a:p>
            <a:r>
              <a:rPr lang="en-IN" sz="2800" b="1" dirty="0"/>
              <a:t>3. Download &amp; Open Project</a:t>
            </a:r>
          </a:p>
          <a:p>
            <a:pPr lvl="1"/>
            <a:r>
              <a:rPr lang="en-IN" sz="2400" dirty="0"/>
              <a:t>Extract the ZIP file </a:t>
            </a:r>
          </a:p>
          <a:p>
            <a:pPr lvl="1"/>
            <a:r>
              <a:rPr lang="en-IN" sz="2400" dirty="0"/>
              <a:t>Open in </a:t>
            </a:r>
            <a:r>
              <a:rPr lang="en-IN" sz="2400" dirty="0" err="1"/>
              <a:t>IntelliJ</a:t>
            </a:r>
            <a:r>
              <a:rPr lang="en-IN" sz="2400" dirty="0"/>
              <a:t> IDEA or Eclipse IDE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81369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4. Project Structure</a:t>
            </a:r>
          </a:p>
          <a:p>
            <a:r>
              <a:rPr lang="en-IN" sz="2800" dirty="0"/>
              <a:t>Important files:</a:t>
            </a:r>
          </a:p>
          <a:p>
            <a:pPr lvl="1"/>
            <a:r>
              <a:rPr lang="en-IN" sz="2400" dirty="0"/>
              <a:t>DemoApplication.java → Main class </a:t>
            </a:r>
          </a:p>
          <a:p>
            <a:pPr lvl="1"/>
            <a:r>
              <a:rPr lang="en-IN" sz="2400" dirty="0"/>
              <a:t>pom.xml → Dependencies </a:t>
            </a:r>
          </a:p>
          <a:p>
            <a:pPr lvl="1"/>
            <a:r>
              <a:rPr lang="en-IN" sz="2400" dirty="0" err="1"/>
              <a:t>application.properties</a:t>
            </a:r>
            <a:r>
              <a:rPr lang="en-IN" sz="2400" dirty="0"/>
              <a:t> → Configuration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81369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5. Main Class Example</a:t>
            </a:r>
          </a:p>
          <a:p>
            <a:r>
              <a:rPr lang="en-IN" sz="2800" dirty="0"/>
              <a:t>@</a:t>
            </a:r>
            <a:r>
              <a:rPr lang="en-IN" sz="2800" dirty="0" err="1"/>
              <a:t>SpringBootApplication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public class </a:t>
            </a:r>
            <a:r>
              <a:rPr lang="en-IN" sz="2800" dirty="0" err="1"/>
              <a:t>DemoApplication</a:t>
            </a:r>
            <a:r>
              <a:rPr lang="en-IN" sz="2800" dirty="0"/>
              <a:t> {</a:t>
            </a:r>
            <a:br>
              <a:rPr lang="en-IN" sz="2800" dirty="0"/>
            </a:br>
            <a:r>
              <a:rPr lang="en-IN" sz="2800" dirty="0"/>
              <a:t>    public static void main(String[] </a:t>
            </a:r>
            <a:r>
              <a:rPr lang="en-IN" sz="2800" dirty="0" err="1"/>
              <a:t>args</a:t>
            </a:r>
            <a:r>
              <a:rPr lang="en-IN" sz="2800" dirty="0"/>
              <a:t>) {</a:t>
            </a:r>
            <a:br>
              <a:rPr lang="en-IN" sz="2800" dirty="0"/>
            </a:br>
            <a:r>
              <a:rPr lang="en-IN" sz="2800" dirty="0"/>
              <a:t>        </a:t>
            </a:r>
            <a:r>
              <a:rPr lang="en-IN" sz="2800" dirty="0" err="1"/>
              <a:t>SpringApplication.run</a:t>
            </a:r>
            <a:r>
              <a:rPr lang="en-IN" sz="2800" dirty="0"/>
              <a:t>(</a:t>
            </a:r>
            <a:r>
              <a:rPr lang="en-IN" sz="2800" dirty="0" err="1"/>
              <a:t>DemoApplication.class</a:t>
            </a:r>
            <a:r>
              <a:rPr lang="en-IN" sz="2800" dirty="0"/>
              <a:t>, </a:t>
            </a:r>
            <a:r>
              <a:rPr lang="en-IN" sz="2800" dirty="0" err="1"/>
              <a:t>args</a:t>
            </a:r>
            <a:r>
              <a:rPr lang="en-IN" sz="2800" dirty="0"/>
              <a:t>);</a:t>
            </a:r>
            <a:br>
              <a:rPr lang="en-IN" sz="2800" dirty="0"/>
            </a:br>
            <a:r>
              <a:rPr lang="en-IN" sz="2800" dirty="0"/>
              <a:t>    }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21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6. Create a Simple Controller</a:t>
            </a:r>
          </a:p>
          <a:p>
            <a:r>
              <a:rPr lang="en-IN" sz="2800" dirty="0"/>
              <a:t>@</a:t>
            </a:r>
            <a:r>
              <a:rPr lang="en-IN" sz="2800" dirty="0" err="1"/>
              <a:t>RestController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public class </a:t>
            </a:r>
            <a:r>
              <a:rPr lang="en-IN" sz="2800" dirty="0" err="1"/>
              <a:t>HelloController</a:t>
            </a:r>
            <a:r>
              <a:rPr lang="en-IN" sz="2800" dirty="0"/>
              <a:t> {</a:t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    @</a:t>
            </a:r>
            <a:r>
              <a:rPr lang="en-IN" sz="2800" dirty="0" err="1"/>
              <a:t>GetMapping</a:t>
            </a:r>
            <a:r>
              <a:rPr lang="en-IN" sz="2800" dirty="0"/>
              <a:t>("/")</a:t>
            </a:r>
            <a:br>
              <a:rPr lang="en-IN" sz="2800" dirty="0"/>
            </a:br>
            <a:r>
              <a:rPr lang="en-IN" sz="2800" dirty="0"/>
              <a:t>    public String hello() {</a:t>
            </a:r>
            <a:br>
              <a:rPr lang="en-IN" sz="2800" dirty="0"/>
            </a:br>
            <a:r>
              <a:rPr lang="en-IN" sz="2800" dirty="0"/>
              <a:t>        return "Hello Spring Boot!";</a:t>
            </a:r>
            <a:br>
              <a:rPr lang="en-IN" sz="2800" dirty="0"/>
            </a:br>
            <a:r>
              <a:rPr lang="en-IN" sz="2800" dirty="0"/>
              <a:t>    }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21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7. Run the Application</a:t>
            </a:r>
          </a:p>
          <a:p>
            <a:pPr lvl="1"/>
            <a:r>
              <a:rPr lang="en-IN" sz="2400" dirty="0"/>
              <a:t>Run the main class </a:t>
            </a:r>
          </a:p>
          <a:p>
            <a:pPr lvl="1"/>
            <a:r>
              <a:rPr lang="en-IN" sz="2400" dirty="0"/>
              <a:t>It starts embedded server like Apache Tomcat </a:t>
            </a:r>
          </a:p>
          <a:p>
            <a:pPr marL="0" indent="0">
              <a:buNone/>
            </a:pPr>
            <a:r>
              <a:rPr lang="en-IN" sz="2800" b="1" dirty="0"/>
              <a:t>8. Test in Browser</a:t>
            </a:r>
          </a:p>
          <a:p>
            <a:pPr lvl="1"/>
            <a:r>
              <a:rPr lang="en-IN" sz="2400" dirty="0"/>
              <a:t>Open:</a:t>
            </a:r>
          </a:p>
          <a:p>
            <a:pPr lvl="1"/>
            <a:r>
              <a:rPr lang="en-IN" sz="2400" dirty="0"/>
              <a:t>http://localhost:8080/ 👉 Output: Hello Spring Boot!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3321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IN" sz="3200" b="1" dirty="0" err="1"/>
              <a:t>RESTful</a:t>
            </a:r>
            <a:r>
              <a:rPr lang="en-IN" sz="3200" b="1" dirty="0"/>
              <a:t> API 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dirty="0"/>
              <a:t>A </a:t>
            </a:r>
            <a:r>
              <a:rPr lang="en-IN" sz="2800" b="1" dirty="0" err="1"/>
              <a:t>RESTful</a:t>
            </a:r>
            <a:r>
              <a:rPr lang="en-IN" sz="2800" b="1" dirty="0"/>
              <a:t> API</a:t>
            </a:r>
            <a:r>
              <a:rPr lang="en-IN" sz="2800" dirty="0"/>
              <a:t> (Representational State Transfer API) is a way for different systems to communicate over the web using standard HTTP </a:t>
            </a:r>
            <a:r>
              <a:rPr lang="en-IN" sz="2800" dirty="0" smtClean="0"/>
              <a:t>methods</a:t>
            </a:r>
          </a:p>
          <a:p>
            <a:r>
              <a:rPr lang="en-IN" sz="2800" dirty="0" smtClean="0"/>
              <a:t>It </a:t>
            </a:r>
            <a:r>
              <a:rPr lang="en-IN" sz="2800" dirty="0"/>
              <a:t>follows the principles of </a:t>
            </a:r>
            <a:r>
              <a:rPr lang="en-IN" sz="2800" b="1" dirty="0"/>
              <a:t>REST architecture</a:t>
            </a:r>
            <a:r>
              <a:rPr lang="en-IN" sz="2800" dirty="0"/>
              <a:t> to make </a:t>
            </a:r>
            <a:r>
              <a:rPr lang="en-IN" sz="2800" dirty="0" smtClean="0"/>
              <a:t>communication </a:t>
            </a:r>
            <a:r>
              <a:rPr lang="en-IN" sz="2800" dirty="0"/>
              <a:t>simple, scalable, and </a:t>
            </a:r>
            <a:r>
              <a:rPr lang="en-IN" sz="2800" dirty="0" smtClean="0"/>
              <a:t>stateless</a:t>
            </a:r>
          </a:p>
          <a:p>
            <a:r>
              <a:rPr lang="en-IN" sz="2800" dirty="0"/>
              <a:t>A </a:t>
            </a:r>
            <a:r>
              <a:rPr lang="en-IN" sz="2800" dirty="0" err="1"/>
              <a:t>RESTful</a:t>
            </a:r>
            <a:r>
              <a:rPr lang="en-IN" sz="2800" dirty="0"/>
              <a:t> API treats everything as a </a:t>
            </a:r>
            <a:r>
              <a:rPr lang="en-IN" sz="2800" b="1" dirty="0"/>
              <a:t>resource</a:t>
            </a:r>
            <a:r>
              <a:rPr lang="en-IN" sz="2800" dirty="0"/>
              <a:t> (like users, products, orders), and each resource is identified by a </a:t>
            </a:r>
            <a:r>
              <a:rPr lang="en-IN" sz="2800" b="1" dirty="0"/>
              <a:t>URL</a:t>
            </a:r>
            <a:r>
              <a:rPr lang="en-IN" sz="2800" dirty="0"/>
              <a:t>.</a:t>
            </a:r>
          </a:p>
          <a:p>
            <a:r>
              <a:rPr lang="en-IN" sz="2800" dirty="0"/>
              <a:t>Example:</a:t>
            </a:r>
          </a:p>
          <a:p>
            <a:r>
              <a:rPr lang="en-IN" sz="2800" dirty="0"/>
              <a:t>/users</a:t>
            </a:r>
            <a:br>
              <a:rPr lang="en-IN" sz="2800" dirty="0"/>
            </a:br>
            <a:r>
              <a:rPr lang="en-IN" sz="2800" dirty="0"/>
              <a:t>/products</a:t>
            </a:r>
            <a:br>
              <a:rPr lang="en-IN" sz="2800" dirty="0"/>
            </a:br>
            <a:r>
              <a:rPr lang="en-IN" sz="2800" dirty="0"/>
              <a:t>/orders</a:t>
            </a:r>
          </a:p>
        </p:txBody>
      </p:sp>
    </p:spTree>
    <p:extLst>
      <p:ext uri="{BB962C8B-B14F-4D97-AF65-F5344CB8AC3E}">
        <p14:creationId xmlns:p14="http://schemas.microsoft.com/office/powerpoint/2010/main" val="163321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HTTP Methods Used</a:t>
            </a:r>
          </a:p>
          <a:p>
            <a:pPr lvl="1"/>
            <a:r>
              <a:rPr lang="en-IN" sz="2400" dirty="0"/>
              <a:t>REST APIs use standard HTTP methods:</a:t>
            </a:r>
          </a:p>
          <a:p>
            <a:pPr lvl="2"/>
            <a:r>
              <a:rPr lang="en-IN" sz="2000" b="1" dirty="0"/>
              <a:t>GET</a:t>
            </a:r>
            <a:r>
              <a:rPr lang="en-IN" sz="2000" dirty="0"/>
              <a:t> → Retrieve data </a:t>
            </a:r>
          </a:p>
          <a:p>
            <a:pPr lvl="2"/>
            <a:r>
              <a:rPr lang="en-IN" sz="2000" b="1" dirty="0"/>
              <a:t>POST</a:t>
            </a:r>
            <a:r>
              <a:rPr lang="en-IN" sz="2000" dirty="0"/>
              <a:t> → Create new data </a:t>
            </a:r>
          </a:p>
          <a:p>
            <a:pPr lvl="2"/>
            <a:r>
              <a:rPr lang="en-IN" sz="2000" b="1" dirty="0"/>
              <a:t>PUT</a:t>
            </a:r>
            <a:r>
              <a:rPr lang="en-IN" sz="2000" dirty="0"/>
              <a:t> → Update existing data </a:t>
            </a:r>
          </a:p>
          <a:p>
            <a:pPr lvl="2"/>
            <a:r>
              <a:rPr lang="en-IN" sz="2000" b="1" dirty="0"/>
              <a:t>DELETE</a:t>
            </a:r>
            <a:r>
              <a:rPr lang="en-IN" sz="2000" dirty="0"/>
              <a:t> → Remove data</a:t>
            </a:r>
          </a:p>
          <a:p>
            <a:r>
              <a:rPr lang="en-IN" dirty="0"/>
              <a:t>Example:</a:t>
            </a:r>
            <a:endParaRPr lang="en-IN" sz="2800" dirty="0"/>
          </a:p>
          <a:p>
            <a:pPr lvl="2"/>
            <a:r>
              <a:rPr lang="en-IN" dirty="0"/>
              <a:t>GET /users       → Get all users</a:t>
            </a:r>
            <a:br>
              <a:rPr lang="en-IN" dirty="0"/>
            </a:br>
            <a:r>
              <a:rPr lang="en-IN" dirty="0"/>
              <a:t>POST /users      → Create user</a:t>
            </a:r>
            <a:br>
              <a:rPr lang="en-IN" dirty="0"/>
            </a:br>
            <a:r>
              <a:rPr lang="en-IN" dirty="0"/>
              <a:t>PUT /users/1     → Update user</a:t>
            </a:r>
            <a:br>
              <a:rPr lang="en-IN" dirty="0"/>
            </a:br>
            <a:r>
              <a:rPr lang="en-IN" dirty="0"/>
              <a:t>DELETE /users/1  → Delete user</a:t>
            </a:r>
            <a:endParaRPr lang="en-IN" sz="3200" dirty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3321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l"/>
            <a:r>
              <a:rPr lang="en-IN" sz="3200" b="1" dirty="0" smtClean="0"/>
              <a:t/>
            </a:r>
            <a:br>
              <a:rPr lang="en-IN" sz="3200" b="1" dirty="0" smtClean="0"/>
            </a:br>
            <a:r>
              <a:rPr lang="en-IN" sz="3200" b="1" dirty="0" smtClean="0"/>
              <a:t>Key </a:t>
            </a:r>
            <a:r>
              <a:rPr lang="en-IN" sz="3200" b="1" dirty="0"/>
              <a:t>Characteristics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1. Stateless</a:t>
            </a:r>
          </a:p>
          <a:p>
            <a:pPr lvl="1"/>
            <a:r>
              <a:rPr lang="en-IN" sz="2400" dirty="0"/>
              <a:t>Each request is independent. The server does not store client state.</a:t>
            </a:r>
          </a:p>
          <a:p>
            <a:pPr marL="0" indent="0">
              <a:buNone/>
            </a:pPr>
            <a:r>
              <a:rPr lang="en-IN" sz="2800" b="1" dirty="0"/>
              <a:t>2. Client-Server Architecture</a:t>
            </a:r>
          </a:p>
          <a:p>
            <a:pPr lvl="1"/>
            <a:r>
              <a:rPr lang="en-IN" sz="2400" dirty="0"/>
              <a:t>Client and server are separate, improving flexibility.</a:t>
            </a:r>
          </a:p>
          <a:p>
            <a:pPr marL="0" indent="0">
              <a:buNone/>
            </a:pPr>
            <a:r>
              <a:rPr lang="en-IN" sz="2800" b="1" dirty="0"/>
              <a:t>3. Uniform Interface</a:t>
            </a:r>
          </a:p>
          <a:p>
            <a:pPr lvl="1"/>
            <a:r>
              <a:rPr lang="en-IN" sz="2400" dirty="0"/>
              <a:t>Uses standard conventions (URLs + HTTP methods).</a:t>
            </a:r>
          </a:p>
          <a:p>
            <a:pPr marL="0" indent="0">
              <a:buNone/>
            </a:pPr>
            <a:r>
              <a:rPr lang="en-IN" sz="2800" b="1" dirty="0"/>
              <a:t>4. Resource-Based</a:t>
            </a:r>
          </a:p>
          <a:p>
            <a:pPr lvl="1"/>
            <a:r>
              <a:rPr lang="en-IN" sz="2400" dirty="0"/>
              <a:t>Everything is treated as a resource.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6119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5. Data Format</a:t>
            </a:r>
          </a:p>
          <a:p>
            <a:pPr lvl="1"/>
            <a:r>
              <a:rPr lang="en-IN" sz="2400" dirty="0"/>
              <a:t>Usually uses JSON for data exchange.</a:t>
            </a:r>
          </a:p>
          <a:p>
            <a:pPr lvl="1"/>
            <a:r>
              <a:rPr lang="en-IN" sz="2400" b="1" dirty="0"/>
              <a:t>Example Response (JSON)</a:t>
            </a:r>
          </a:p>
          <a:p>
            <a:pPr lvl="2"/>
            <a:r>
              <a:rPr lang="en-IN" sz="2000" dirty="0"/>
              <a:t>{</a:t>
            </a:r>
            <a:br>
              <a:rPr lang="en-IN" sz="2000" dirty="0"/>
            </a:br>
            <a:r>
              <a:rPr lang="en-IN" sz="2000" dirty="0"/>
              <a:t>  "id": 1,</a:t>
            </a:r>
            <a:br>
              <a:rPr lang="en-IN" sz="2000" dirty="0"/>
            </a:br>
            <a:r>
              <a:rPr lang="en-IN" sz="2000" dirty="0"/>
              <a:t>  "name": "John"</a:t>
            </a:r>
            <a:br>
              <a:rPr lang="en-IN" sz="2000" dirty="0"/>
            </a:br>
            <a:r>
              <a:rPr lang="en-IN" sz="2000" dirty="0" smtClean="0"/>
              <a:t>}</a:t>
            </a:r>
          </a:p>
          <a:p>
            <a:pPr lvl="1"/>
            <a:endParaRPr lang="en-GB" dirty="0"/>
          </a:p>
          <a:p>
            <a:pPr lvl="2"/>
            <a:endParaRPr lang="en-GB" sz="2000" dirty="0" smtClean="0"/>
          </a:p>
          <a:p>
            <a:pPr lvl="2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6119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Why Use </a:t>
            </a:r>
            <a:r>
              <a:rPr lang="en-IN" sz="2800" b="1" dirty="0" err="1"/>
              <a:t>RESTful</a:t>
            </a:r>
            <a:r>
              <a:rPr lang="en-IN" sz="2800" b="1" dirty="0"/>
              <a:t> APIs?</a:t>
            </a:r>
          </a:p>
          <a:p>
            <a:pPr lvl="1"/>
            <a:r>
              <a:rPr lang="en-IN" sz="2400" dirty="0"/>
              <a:t>Simple and easy to understand </a:t>
            </a:r>
          </a:p>
          <a:p>
            <a:pPr lvl="1"/>
            <a:r>
              <a:rPr lang="en-IN" sz="2400" dirty="0"/>
              <a:t>Scalable and lightweight </a:t>
            </a:r>
          </a:p>
          <a:p>
            <a:pPr lvl="1"/>
            <a:r>
              <a:rPr lang="en-IN" sz="2400" dirty="0"/>
              <a:t>Works with any platform (web, mobile) </a:t>
            </a:r>
          </a:p>
          <a:p>
            <a:pPr lvl="1"/>
            <a:r>
              <a:rPr lang="en-IN" sz="2400" dirty="0"/>
              <a:t>Widely used in modern applications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61198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r>
              <a:rPr lang="en-IN" sz="2800" b="1" dirty="0"/>
              <a:t>In Spring Boot</a:t>
            </a:r>
          </a:p>
          <a:p>
            <a:pPr lvl="1"/>
            <a:r>
              <a:rPr lang="en-IN" sz="2400" dirty="0"/>
              <a:t>REST APIs are created using:</a:t>
            </a:r>
          </a:p>
          <a:p>
            <a:pPr lvl="1"/>
            <a:r>
              <a:rPr lang="en-IN" sz="2400" dirty="0"/>
              <a:t>@</a:t>
            </a:r>
            <a:r>
              <a:rPr lang="en-IN" sz="2400" dirty="0" err="1"/>
              <a:t>RestController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@</a:t>
            </a:r>
            <a:r>
              <a:rPr lang="en-IN" sz="2400" dirty="0" err="1"/>
              <a:t>GetMapping</a:t>
            </a:r>
            <a:r>
              <a:rPr lang="en-IN" sz="2400" dirty="0"/>
              <a:t>, @</a:t>
            </a:r>
            <a:r>
              <a:rPr lang="en-IN" sz="2400" dirty="0" err="1"/>
              <a:t>PostMapping</a:t>
            </a:r>
            <a:r>
              <a:rPr lang="en-IN" sz="2400" dirty="0"/>
              <a:t>, etc</a:t>
            </a:r>
            <a:r>
              <a:rPr lang="en-IN" sz="2400" dirty="0" smtClean="0"/>
              <a:t>.</a:t>
            </a:r>
          </a:p>
          <a:p>
            <a:pPr lvl="1"/>
            <a:endParaRPr lang="en-IN" sz="2400" dirty="0"/>
          </a:p>
          <a:p>
            <a:pPr lvl="1"/>
            <a:endParaRPr lang="en-IN" sz="2400" dirty="0" smtClean="0"/>
          </a:p>
          <a:p>
            <a:r>
              <a:rPr lang="en-IN" dirty="0"/>
              <a:t>A </a:t>
            </a:r>
            <a:r>
              <a:rPr lang="en-IN" dirty="0" err="1"/>
              <a:t>RESTful</a:t>
            </a:r>
            <a:r>
              <a:rPr lang="en-IN" dirty="0"/>
              <a:t> API is a standard way to build web services where </a:t>
            </a:r>
            <a:r>
              <a:rPr lang="en-IN" b="1" dirty="0"/>
              <a:t>clients interact with resources using HTTP methods in a stateless manner</a:t>
            </a:r>
            <a:r>
              <a:rPr lang="en-IN" dirty="0"/>
              <a:t>.</a:t>
            </a:r>
          </a:p>
          <a:p>
            <a:pPr marL="457200" lvl="1" indent="0">
              <a:buNone/>
            </a:pPr>
            <a:endParaRPr lang="en-IN" sz="24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6119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/>
          </a:bodyPr>
          <a:lstStyle/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611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1063</Words>
  <Application>Microsoft Office PowerPoint</Application>
  <PresentationFormat>On-screen Show (4:3)</PresentationFormat>
  <Paragraphs>172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Spring Boot </vt:lpstr>
      <vt:lpstr>Spring boot: Overview</vt:lpstr>
      <vt:lpstr>Key Features</vt:lpstr>
      <vt:lpstr> Why use Spring Boot? </vt:lpstr>
      <vt:lpstr> Simple Flow </vt:lpstr>
      <vt:lpstr>Spring Boot – Key Features </vt:lpstr>
      <vt:lpstr>PowerPoint Presentation</vt:lpstr>
      <vt:lpstr>PowerPoint Presentation</vt:lpstr>
      <vt:lpstr>Core components of Spring Boot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Spring Boot Layered Architecture</vt:lpstr>
      <vt:lpstr>PowerPoint Presentation</vt:lpstr>
      <vt:lpstr>Setting Up a Spring Boot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RESTful API </vt:lpstr>
      <vt:lpstr>PowerPoint Presentation</vt:lpstr>
      <vt:lpstr> Key Characteristics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</dc:title>
  <dc:creator>Rajashekharaiah</dc:creator>
  <cp:lastModifiedBy>Rajashekharaiah</cp:lastModifiedBy>
  <cp:revision>18</cp:revision>
  <dcterms:created xsi:type="dcterms:W3CDTF">2006-08-16T00:00:00Z</dcterms:created>
  <dcterms:modified xsi:type="dcterms:W3CDTF">2026-04-30T09:33:32Z</dcterms:modified>
</cp:coreProperties>
</file>