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70" r:id="rId16"/>
    <p:sldId id="269" r:id="rId17"/>
    <p:sldId id="271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677" y="-6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CAB47-755B-405D-8ED0-0FA671F561B3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5009C-37FB-43A4-8A95-90E67076F7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412554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Streams Basics:</a:t>
            </a:r>
          </a:p>
          <a:p>
            <a:pPr lvl="1"/>
            <a:r>
              <a:rPr lang="en-US" dirty="0" smtClean="0"/>
              <a:t>The two most important features added by JDK8</a:t>
            </a:r>
          </a:p>
          <a:p>
            <a:pPr lvl="2"/>
            <a:r>
              <a:rPr lang="en-US" dirty="0" smtClean="0"/>
              <a:t>Lambda Expressions</a:t>
            </a:r>
          </a:p>
          <a:p>
            <a:pPr lvl="2"/>
            <a:r>
              <a:rPr lang="en-US" dirty="0" smtClean="0"/>
              <a:t>Streams API</a:t>
            </a:r>
          </a:p>
          <a:p>
            <a:pPr lvl="1"/>
            <a:r>
              <a:rPr lang="en-US" dirty="0" smtClean="0"/>
              <a:t>The steam API is designed with Lambda expressions in mind</a:t>
            </a:r>
          </a:p>
          <a:p>
            <a:pPr lvl="2"/>
            <a:r>
              <a:rPr lang="en-US" dirty="0" smtClean="0"/>
              <a:t>Extensively used in streams</a:t>
            </a:r>
          </a:p>
          <a:p>
            <a:pPr lvl="1"/>
            <a:r>
              <a:rPr lang="en-US" dirty="0" smtClean="0"/>
              <a:t>The key aspect of streams API is its ability to perform very sophisticated operations that search, filter, map or otherwise manipulate data.</a:t>
            </a:r>
          </a:p>
          <a:p>
            <a:pPr lvl="2" algn="just"/>
            <a:r>
              <a:rPr lang="en-US" b="1" dirty="0" smtClean="0"/>
              <a:t>Example: </a:t>
            </a:r>
            <a:r>
              <a:rPr lang="en-US" dirty="0" smtClean="0"/>
              <a:t>Using the streams API, you can construct sequence of actions that resemble the type of the database queries that you might use SQL: </a:t>
            </a:r>
            <a:r>
              <a:rPr lang="en-US" b="1" dirty="0" smtClean="0"/>
              <a:t>Declarative Language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Such actions can be performed in parallel which provide high level efficiency, when large data sets are involved.</a:t>
            </a:r>
          </a:p>
          <a:p>
            <a:pPr algn="just"/>
            <a:r>
              <a:rPr lang="en-US" sz="2800" dirty="0" smtClean="0"/>
              <a:t>The streams API provides a powerful means of handling data in an efficient yet easy to use way.</a:t>
            </a:r>
            <a:endParaRPr lang="en-US" sz="2800" b="1" dirty="0" smtClean="0"/>
          </a:p>
          <a:p>
            <a:pPr algn="just"/>
            <a:r>
              <a:rPr lang="en-US" sz="2800" b="1" dirty="0" smtClean="0"/>
              <a:t>Prerequisite:</a:t>
            </a:r>
            <a:r>
              <a:rPr lang="en-US" sz="2800" dirty="0" smtClean="0"/>
              <a:t> Generics and Lambda expressions.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Define</a:t>
            </a:r>
          </a:p>
          <a:p>
            <a:pPr lvl="1"/>
            <a:r>
              <a:rPr lang="en-US" dirty="0" smtClean="0"/>
              <a:t>Stream: is a conduit for data [A channel for conveying water or fluid: </a:t>
            </a:r>
            <a:r>
              <a:rPr lang="en-US" b="1" dirty="0" smtClean="0"/>
              <a:t>Dictionary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A stream represents a sequence of objects</a:t>
            </a:r>
          </a:p>
          <a:p>
            <a:r>
              <a:rPr lang="en-US" dirty="0" smtClean="0"/>
              <a:t>A stream operates on a data source: Array or Collection</a:t>
            </a:r>
          </a:p>
          <a:p>
            <a:r>
              <a:rPr lang="en-US" dirty="0" smtClean="0"/>
              <a:t>No storage of data.</a:t>
            </a:r>
          </a:p>
          <a:p>
            <a:r>
              <a:rPr lang="en-US" dirty="0" smtClean="0"/>
              <a:t>It moves data: filtering, sorting, otherwise operating on the data in the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/>
          <a:lstStyle/>
          <a:p>
            <a:pPr algn="just"/>
            <a:r>
              <a:rPr lang="en-US" dirty="0" smtClean="0"/>
              <a:t>The general rule: </a:t>
            </a:r>
            <a:r>
              <a:rPr lang="en-US" i="1" dirty="0" smtClean="0"/>
              <a:t>sorting</a:t>
            </a:r>
            <a:r>
              <a:rPr lang="en-US" dirty="0" smtClean="0"/>
              <a:t> a stream does not change the order of the source. </a:t>
            </a:r>
            <a:r>
              <a:rPr lang="en-US" b="1" dirty="0" smtClean="0"/>
              <a:t>Rather</a:t>
            </a:r>
            <a:r>
              <a:rPr lang="en-US" dirty="0" smtClean="0"/>
              <a:t>, sorting a stream results in the creation of </a:t>
            </a:r>
            <a:r>
              <a:rPr lang="en-US" b="1" i="1" dirty="0" smtClean="0"/>
              <a:t>new stream that produces the new result.</a:t>
            </a:r>
          </a:p>
          <a:p>
            <a:pPr algn="just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/>
          <a:lstStyle/>
          <a:p>
            <a:r>
              <a:rPr lang="en-US" dirty="0" smtClean="0"/>
              <a:t>Stream interfaces:</a:t>
            </a:r>
          </a:p>
          <a:p>
            <a:pPr lvl="1"/>
            <a:r>
              <a:rPr lang="en-US" dirty="0" err="1" smtClean="0"/>
              <a:t>BaseStream</a:t>
            </a:r>
            <a:endParaRPr lang="en-US" dirty="0" smtClean="0"/>
          </a:p>
          <a:p>
            <a:pPr lvl="1"/>
            <a:r>
              <a:rPr lang="en-US" dirty="0" smtClean="0"/>
              <a:t>Stream</a:t>
            </a:r>
          </a:p>
          <a:p>
            <a:pPr lvl="1"/>
            <a:r>
              <a:rPr lang="en-US" dirty="0" smtClean="0"/>
              <a:t>Packaged in : </a:t>
            </a:r>
            <a:r>
              <a:rPr lang="en-US" dirty="0" err="1" smtClean="0"/>
              <a:t>java.util.stream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on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214296"/>
            <a:ext cx="8643997" cy="4822065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two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0" y="214296"/>
            <a:ext cx="8643998" cy="4768486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API: Stream interface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3"/>
            <a:ext cx="8229600" cy="4179123"/>
          </a:xfrm>
        </p:spPr>
        <p:txBody>
          <a:bodyPr/>
          <a:lstStyle/>
          <a:p>
            <a:r>
              <a:rPr lang="en-US" dirty="0" smtClean="0"/>
              <a:t>The Stream interface extends the </a:t>
            </a:r>
            <a:r>
              <a:rPr lang="en-US" dirty="0" err="1" smtClean="0"/>
              <a:t>BaseStream</a:t>
            </a:r>
            <a:endParaRPr lang="en-US" dirty="0" smtClean="0"/>
          </a:p>
          <a:p>
            <a:r>
              <a:rPr lang="en-US" dirty="0" smtClean="0"/>
              <a:t>I addition to the methods that it inherits from </a:t>
            </a:r>
            <a:r>
              <a:rPr lang="en-US" dirty="0" err="1" smtClean="0"/>
              <a:t>BaseStream</a:t>
            </a:r>
            <a:r>
              <a:rPr lang="en-US" dirty="0" smtClean="0"/>
              <a:t> the Stream interface adds several of its own. </a:t>
            </a:r>
            <a:endParaRPr lang="en-US" dirty="0"/>
          </a:p>
        </p:txBody>
      </p:sp>
      <p:pic>
        <p:nvPicPr>
          <p:cNvPr id="6" name="Picture 5" descr="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2411015"/>
            <a:ext cx="7704488" cy="24646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2800" dirty="0" smtClean="0"/>
              <a:t>Streams API: Terminal and intermediate methods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/>
          <a:lstStyle/>
          <a:p>
            <a:r>
              <a:rPr lang="en-US" sz="2800" b="1" i="1" dirty="0" smtClean="0"/>
              <a:t>Terminal operation</a:t>
            </a:r>
            <a:r>
              <a:rPr lang="en-US" sz="2800" dirty="0" smtClean="0"/>
              <a:t>: A terminal operation consumes the stream</a:t>
            </a:r>
          </a:p>
          <a:p>
            <a:r>
              <a:rPr lang="en-US" sz="2800" dirty="0" smtClean="0"/>
              <a:t>It is used to </a:t>
            </a:r>
            <a:r>
              <a:rPr lang="en-US" sz="2800" i="1" dirty="0" smtClean="0"/>
              <a:t>produce</a:t>
            </a:r>
            <a:r>
              <a:rPr lang="en-US" sz="2800" dirty="0" smtClean="0"/>
              <a:t> a result, such as finding the </a:t>
            </a:r>
            <a:r>
              <a:rPr lang="en-US" sz="2800" i="1" dirty="0" smtClean="0"/>
              <a:t>minimum</a:t>
            </a:r>
            <a:r>
              <a:rPr lang="en-US" sz="2800" dirty="0" smtClean="0"/>
              <a:t> value in the stream.</a:t>
            </a:r>
          </a:p>
          <a:p>
            <a:r>
              <a:rPr lang="en-US" sz="2800" dirty="0" smtClean="0"/>
              <a:t>Once the stream has been consumed, it cannot be reused. [</a:t>
            </a:r>
            <a:r>
              <a:rPr lang="en-US" sz="2800" dirty="0" err="1" smtClean="0"/>
              <a:t>exmple</a:t>
            </a:r>
            <a:r>
              <a:rPr lang="en-US" sz="2800" dirty="0" smtClean="0"/>
              <a:t>]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API: </a:t>
            </a:r>
            <a:r>
              <a:rPr lang="en-US" sz="3200" i="1" dirty="0" smtClean="0"/>
              <a:t>Intermediate method</a:t>
            </a:r>
            <a:endParaRPr lang="en-US" sz="3200" i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 smtClean="0"/>
              <a:t>Intermediate operations produce another stream</a:t>
            </a:r>
          </a:p>
          <a:p>
            <a:endParaRPr lang="en-US" sz="2800" dirty="0" smtClean="0"/>
          </a:p>
          <a:p>
            <a:r>
              <a:rPr lang="en-US" sz="2800" dirty="0" smtClean="0"/>
              <a:t>The intermediate operations can be used to create a </a:t>
            </a:r>
            <a:r>
              <a:rPr lang="en-US" sz="2800" i="1" dirty="0" smtClean="0"/>
              <a:t>pipeline that performs a sequence of actions</a:t>
            </a:r>
          </a:p>
          <a:p>
            <a:pPr>
              <a:buNone/>
            </a:pPr>
            <a:endParaRPr lang="en-US" sz="2800" i="1" dirty="0" smtClean="0"/>
          </a:p>
          <a:p>
            <a:pPr algn="just"/>
            <a:r>
              <a:rPr lang="en-US" sz="2800" i="1" dirty="0" smtClean="0"/>
              <a:t>Intermediate </a:t>
            </a:r>
            <a:r>
              <a:rPr lang="en-US" sz="2800" dirty="0" smtClean="0"/>
              <a:t>operations do not take place immediately, instead the specified action is performed when a terminal operation is executed on the new stream created by an intermediate operation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This mechanism is referred to as </a:t>
            </a:r>
            <a:r>
              <a:rPr lang="en-US" sz="2800" i="1" dirty="0" smtClean="0"/>
              <a:t>lazy </a:t>
            </a:r>
            <a:r>
              <a:rPr lang="en-US" sz="2800" dirty="0" smtClean="0"/>
              <a:t>behavior, and the intermediate operations are referred to as </a:t>
            </a:r>
            <a:r>
              <a:rPr lang="en-US" sz="2800" i="1" dirty="0" smtClean="0"/>
              <a:t>lazy.</a:t>
            </a:r>
          </a:p>
          <a:p>
            <a:pPr algn="just"/>
            <a:r>
              <a:rPr lang="en-US" sz="2800" i="1" dirty="0" smtClean="0"/>
              <a:t>The use of </a:t>
            </a:r>
            <a:r>
              <a:rPr lang="en-US" sz="2800" dirty="0" smtClean="0"/>
              <a:t>lazy behavior enables the stream API to perform more efficiently</a:t>
            </a:r>
            <a:endParaRPr lang="en-US" sz="2800" i="1" dirty="0" smtClean="0"/>
          </a:p>
          <a:p>
            <a:pPr algn="just">
              <a:buNone/>
            </a:pPr>
            <a:r>
              <a:rPr lang="en-US" sz="2800" i="1" dirty="0" smtClean="0"/>
              <a:t> </a:t>
            </a:r>
            <a:endParaRPr lang="en-US" sz="2800" i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2800" dirty="0" smtClean="0"/>
              <a:t>Streams API: Terminal and intermediate methods</a:t>
            </a:r>
            <a:endParaRPr lang="en-US" sz="2800" dirty="0"/>
          </a:p>
        </p:txBody>
      </p:sp>
      <p:pic>
        <p:nvPicPr>
          <p:cNvPr id="6" name="Content Placeholder 5" descr="Stream-in-Java-7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964395"/>
            <a:ext cx="8501122" cy="32682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Streams API: Intermediate operations are </a:t>
            </a:r>
            <a:r>
              <a:rPr lang="en-US" sz="2400" b="1" dirty="0" err="1" smtClean="0"/>
              <a:t>stateful</a:t>
            </a:r>
            <a:r>
              <a:rPr lang="en-US" sz="2400" b="1" dirty="0" smtClean="0"/>
              <a:t> or stateless</a:t>
            </a:r>
            <a:endParaRPr lang="en-US" sz="24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Stateless operation: Each element is processed independently of the others.</a:t>
            </a:r>
          </a:p>
          <a:p>
            <a:pPr lvl="1"/>
            <a:r>
              <a:rPr lang="en-US" sz="2400" dirty="0" smtClean="0"/>
              <a:t>Filtering is stateless because each element is handled individually</a:t>
            </a:r>
          </a:p>
          <a:p>
            <a:r>
              <a:rPr lang="en-US" sz="2800" dirty="0" err="1" smtClean="0"/>
              <a:t>Stateful</a:t>
            </a:r>
            <a:r>
              <a:rPr lang="en-US" sz="2800" dirty="0" smtClean="0"/>
              <a:t> operation: The processing of an element may depend on aspect of the other element.</a:t>
            </a:r>
          </a:p>
          <a:p>
            <a:pPr lvl="1"/>
            <a:r>
              <a:rPr lang="en-US" sz="2400" dirty="0" smtClean="0"/>
              <a:t>Sorting is a </a:t>
            </a:r>
            <a:r>
              <a:rPr lang="en-US" sz="2400" dirty="0" err="1" smtClean="0"/>
              <a:t>stateful</a:t>
            </a:r>
            <a:r>
              <a:rPr lang="en-US" sz="2400" dirty="0" smtClean="0"/>
              <a:t> operation because an elements order depends on the value of the other elements  </a:t>
            </a:r>
          </a:p>
          <a:p>
            <a:pPr algn="just"/>
            <a:r>
              <a:rPr lang="en-US" sz="2800" dirty="0" smtClean="0"/>
              <a:t>The difference between the stateless and </a:t>
            </a:r>
            <a:r>
              <a:rPr lang="en-US" sz="2800" dirty="0" err="1" smtClean="0"/>
              <a:t>stateful</a:t>
            </a:r>
            <a:r>
              <a:rPr lang="en-US" sz="2800" dirty="0" smtClean="0"/>
              <a:t> operations is important when parallel processing of a stream is desired because a </a:t>
            </a:r>
            <a:r>
              <a:rPr lang="en-US" sz="2800" dirty="0" err="1" smtClean="0"/>
              <a:t>stateful</a:t>
            </a:r>
            <a:r>
              <a:rPr lang="en-US" sz="2800" dirty="0" smtClean="0"/>
              <a:t> operation may require more than one pass to complete.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Because </a:t>
            </a:r>
            <a:r>
              <a:rPr lang="en-US" sz="2800" b="1" dirty="0" smtClean="0"/>
              <a:t>Stream </a:t>
            </a:r>
            <a:r>
              <a:rPr lang="en-US" sz="2800" dirty="0" smtClean="0"/>
              <a:t>operates on object references, it can’t operate directly on primitive types. </a:t>
            </a:r>
          </a:p>
          <a:p>
            <a:r>
              <a:rPr lang="en-US" sz="2800" dirty="0" smtClean="0"/>
              <a:t>To handle primitive type streams, the stream API defines the following interfaces: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err="1" smtClean="0"/>
              <a:t>DoubleStream</a:t>
            </a:r>
            <a:endParaRPr lang="en-US" sz="2800" dirty="0" smtClean="0"/>
          </a:p>
          <a:p>
            <a:r>
              <a:rPr lang="en-US" sz="2800" dirty="0" err="1" smtClean="0"/>
              <a:t>IntStream</a:t>
            </a:r>
            <a:endParaRPr lang="en-US" sz="2800" dirty="0" smtClean="0"/>
          </a:p>
          <a:p>
            <a:r>
              <a:rPr lang="en-US" sz="2800" dirty="0" err="1" smtClean="0"/>
              <a:t>LongStream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/>
          <a:lstStyle/>
          <a:p>
            <a:pPr algn="just">
              <a:buNone/>
            </a:pPr>
            <a:r>
              <a:rPr lang="en-US" sz="2800" dirty="0" smtClean="0"/>
              <a:t>These streams all extend </a:t>
            </a:r>
            <a:r>
              <a:rPr lang="en-US" sz="2800" b="1" dirty="0" err="1" smtClean="0"/>
              <a:t>BaseStream</a:t>
            </a:r>
            <a:r>
              <a:rPr lang="en-US" sz="2800" b="1" dirty="0" smtClean="0"/>
              <a:t> </a:t>
            </a:r>
            <a:r>
              <a:rPr lang="en-US" sz="2800" dirty="0" smtClean="0"/>
              <a:t>and have capabilities similar to</a:t>
            </a:r>
            <a:r>
              <a:rPr lang="en-US" sz="2800" b="1" dirty="0" smtClean="0"/>
              <a:t> Stream </a:t>
            </a:r>
            <a:r>
              <a:rPr lang="en-US" sz="2800" dirty="0" smtClean="0"/>
              <a:t>except that</a:t>
            </a:r>
            <a:r>
              <a:rPr lang="en-US" sz="2800" b="1" dirty="0" smtClean="0"/>
              <a:t> </a:t>
            </a:r>
            <a:r>
              <a:rPr lang="en-US" sz="2800" dirty="0" smtClean="0"/>
              <a:t>they operate on primitive types rather than reference types. They also provide some convenience methods, such as </a:t>
            </a:r>
            <a:r>
              <a:rPr lang="en-US" sz="2800" b="1" dirty="0" smtClean="0"/>
              <a:t>boxed( ), </a:t>
            </a:r>
            <a:r>
              <a:rPr lang="en-US" sz="2800" dirty="0" smtClean="0"/>
              <a:t>that facilitate their use. Because streams of objects</a:t>
            </a:r>
            <a:r>
              <a:rPr lang="en-US" sz="2800" b="1" dirty="0" smtClean="0"/>
              <a:t> </a:t>
            </a:r>
            <a:r>
              <a:rPr lang="en-US" sz="2800" dirty="0" smtClean="0"/>
              <a:t>are the most common, Stream is the primary focus of this chapter, but the primitive type</a:t>
            </a:r>
            <a:r>
              <a:rPr lang="en-US" sz="2800" b="1" dirty="0" smtClean="0"/>
              <a:t> </a:t>
            </a:r>
            <a:r>
              <a:rPr lang="en-US" sz="2800" dirty="0" smtClean="0"/>
              <a:t>streams can be used in much the same way.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/>
              <a:t>The </a:t>
            </a:r>
            <a:r>
              <a:rPr lang="en-US" sz="2800" b="1" dirty="0" smtClean="0"/>
              <a:t>Stream API</a:t>
            </a:r>
            <a:r>
              <a:rPr lang="en-US" sz="2800" dirty="0" smtClean="0"/>
              <a:t> is used to process collections of objects. </a:t>
            </a:r>
          </a:p>
          <a:p>
            <a:pPr>
              <a:buNone/>
            </a:pPr>
            <a:r>
              <a:rPr lang="en-US" sz="2800" dirty="0" smtClean="0"/>
              <a:t>A </a:t>
            </a:r>
            <a:r>
              <a:rPr lang="en-US" sz="2800" b="1" dirty="0" smtClean="0"/>
              <a:t>stream in Java</a:t>
            </a:r>
            <a:r>
              <a:rPr lang="en-US" sz="2800" dirty="0" smtClean="0"/>
              <a:t> is a sequence of objects that supports various methods that can be pipelined to produce the desired result. 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750081"/>
            <a:ext cx="8229600" cy="3857652"/>
          </a:xfrm>
        </p:spPr>
        <p:txBody>
          <a:bodyPr/>
          <a:lstStyle/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0524"/>
          </a:xfrm>
        </p:spPr>
        <p:txBody>
          <a:bodyPr>
            <a:noAutofit/>
          </a:bodyPr>
          <a:lstStyle/>
          <a:p>
            <a:r>
              <a:rPr lang="en-US" sz="3200" dirty="0" smtClean="0"/>
              <a:t>Streams API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627</Words>
  <Application>Microsoft Office PowerPoint</Application>
  <PresentationFormat>On-screen Show (16:9)</PresentationFormat>
  <Paragraphs>66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Streams API</vt:lpstr>
      <vt:lpstr>Streams API</vt:lpstr>
      <vt:lpstr>Streams API</vt:lpstr>
      <vt:lpstr>Streams API</vt:lpstr>
      <vt:lpstr>Streams API</vt:lpstr>
      <vt:lpstr>Slide 6</vt:lpstr>
      <vt:lpstr>Slide 7</vt:lpstr>
      <vt:lpstr>Streams API: Stream interface</vt:lpstr>
      <vt:lpstr>Streams API: Terminal and intermediate methods</vt:lpstr>
      <vt:lpstr>Streams API: Intermediate method</vt:lpstr>
      <vt:lpstr>Streams API: Terminal and intermediate methods</vt:lpstr>
      <vt:lpstr>Streams API: Intermediate operations are stateful or stateless</vt:lpstr>
      <vt:lpstr>Streams API</vt:lpstr>
      <vt:lpstr>Streams API</vt:lpstr>
      <vt:lpstr>Streams API</vt:lpstr>
      <vt:lpstr>Streams API</vt:lpstr>
      <vt:lpstr>Streams API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Rajashekharaiah</dc:creator>
  <cp:lastModifiedBy>Rajashekharaiah</cp:lastModifiedBy>
  <cp:revision>17</cp:revision>
  <dcterms:created xsi:type="dcterms:W3CDTF">2025-05-01T09:32:06Z</dcterms:created>
  <dcterms:modified xsi:type="dcterms:W3CDTF">2025-05-06T13:38:43Z</dcterms:modified>
</cp:coreProperties>
</file>