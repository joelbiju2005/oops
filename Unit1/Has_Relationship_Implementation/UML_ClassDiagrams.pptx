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1" roundtripDataSignature="AMtx7mjpyPYpTnxTMO0Tze0n2iNwlM52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0" name="Google Shape;2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2.bp.blogspot.com/-EjTahSiP7is/UKj8B-wIQeI/AAAAAAAAACE/seDeXyS8pKU/s1600/relationships.jpg" TargetMode="Externa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en.wikipedia.org/wiki/File:UML_role_example.gif" TargetMode="External"/><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en.wikipedia.org/wiki/File:AggregationAndComposition.svg" TargetMode="Externa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relationships.docx"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Scenario</a:t>
            </a:r>
            <a:endParaRPr sz="2800"/>
          </a:p>
        </p:txBody>
      </p:sp>
      <p:sp>
        <p:nvSpPr>
          <p:cNvPr id="85" name="Google Shape;85;p1"/>
          <p:cNvSpPr txBox="1"/>
          <p:nvPr>
            <p:ph idx="1" type="body"/>
          </p:nvPr>
        </p:nvSpPr>
        <p:spPr>
          <a:xfrm>
            <a:off x="457200" y="838200"/>
            <a:ext cx="8229600" cy="5867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None/>
            </a:pPr>
            <a:r>
              <a:rPr b="1" lang="en-US" sz="2800"/>
              <a:t>Banking System</a:t>
            </a:r>
            <a:endParaRPr sz="2800"/>
          </a:p>
          <a:p>
            <a:pPr indent="-342900" lvl="0" marL="342900" rtl="0" algn="just">
              <a:lnSpc>
                <a:spcPct val="100000"/>
              </a:lnSpc>
              <a:spcBef>
                <a:spcPts val="560"/>
              </a:spcBef>
              <a:spcAft>
                <a:spcPts val="0"/>
              </a:spcAft>
              <a:buClr>
                <a:schemeClr val="dk1"/>
              </a:buClr>
              <a:buSzPts val="2800"/>
              <a:buNone/>
            </a:pPr>
            <a:r>
              <a:rPr lang="en-US" sz="2800"/>
              <a:t>  “ABC-BANK-India” – is a bank which provides banking services to it’s customers, it is spread across country having more than 500 branches. It uses software product to serve customers and it uses it to automate creating different type of accounts services like Savings account and PF (provident fund account). The customer can deposit, withdraw or transfer money from one account to another account. The application is used by bank itself and customers. Write a Java program to simulate customer transaction on bank accounts.</a:t>
            </a:r>
            <a:endParaRPr sz="2800"/>
          </a:p>
          <a:p>
            <a:pPr indent="-342900" lvl="0" marL="342900" rtl="0" algn="l">
              <a:lnSpc>
                <a:spcPct val="100000"/>
              </a:lnSpc>
              <a:spcBef>
                <a:spcPts val="560"/>
              </a:spcBef>
              <a:spcAft>
                <a:spcPts val="0"/>
              </a:spcAft>
              <a:buClr>
                <a:schemeClr val="dk1"/>
              </a:buClr>
              <a:buSzPts val="2800"/>
              <a:buNone/>
            </a:pPr>
            <a:r>
              <a:t/>
            </a:r>
            <a:endParaRPr sz="2800"/>
          </a:p>
          <a:p>
            <a:pPr indent="-342900" lvl="0" marL="34290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Scenario</a:t>
            </a:r>
            <a:endParaRPr sz="2800"/>
          </a:p>
        </p:txBody>
      </p:sp>
      <p:sp>
        <p:nvSpPr>
          <p:cNvPr id="91" name="Google Shape;91;p2"/>
          <p:cNvSpPr txBox="1"/>
          <p:nvPr>
            <p:ph idx="1" type="body"/>
          </p:nvPr>
        </p:nvSpPr>
        <p:spPr>
          <a:xfrm>
            <a:off x="457200" y="838200"/>
            <a:ext cx="8229600" cy="58674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None/>
            </a:pPr>
            <a:r>
              <a:rPr lang="en-US" sz="2800"/>
              <a:t>Consider a Syndicate Bank provides “SyndCard” a DebitCard for his customers. The customer uses DebitCard for cash transactions and cash available in his account. The available cash can be considered as balance associated with card. The customer swipe card for transactions of a certain amount, he is allowed to change the pin and display debited amount and balance. Write a Java program to simulate the customer using DebitCard. </a:t>
            </a:r>
            <a:endParaRPr sz="2800"/>
          </a:p>
          <a:p>
            <a:pPr indent="-342900" lvl="0" marL="342900" rtl="0" algn="l">
              <a:lnSpc>
                <a:spcPct val="100000"/>
              </a:lnSpc>
              <a:spcBef>
                <a:spcPts val="560"/>
              </a:spcBef>
              <a:spcAft>
                <a:spcPts val="0"/>
              </a:spcAft>
              <a:buClr>
                <a:schemeClr val="dk1"/>
              </a:buClr>
              <a:buSzPts val="2800"/>
              <a:buNone/>
            </a:pPr>
            <a:r>
              <a:t/>
            </a:r>
            <a:endParaRPr sz="2800"/>
          </a:p>
          <a:p>
            <a:pPr indent="-342900" lvl="0" marL="34290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UML: Class diagrams</a:t>
            </a:r>
            <a:endParaRPr sz="2800"/>
          </a:p>
        </p:txBody>
      </p:sp>
      <p:sp>
        <p:nvSpPr>
          <p:cNvPr id="97" name="Google Shape;97;p3"/>
          <p:cNvSpPr txBox="1"/>
          <p:nvPr>
            <p:ph idx="1" type="body"/>
          </p:nvPr>
        </p:nvSpPr>
        <p:spPr>
          <a:xfrm>
            <a:off x="457200" y="838200"/>
            <a:ext cx="8229600" cy="58674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b="1" i="1" lang="en-US" sz="2800"/>
              <a:t>Modeling</a:t>
            </a:r>
            <a:r>
              <a:rPr lang="en-US" sz="2800"/>
              <a:t> is an Essential Part of large software projects, and helpful to medium and even small projects as well</a:t>
            </a:r>
            <a:endParaRPr i="1" sz="2800" u="sng"/>
          </a:p>
          <a:p>
            <a:pPr indent="-342900" lvl="0" marL="342900" rtl="0" algn="just">
              <a:lnSpc>
                <a:spcPct val="100000"/>
              </a:lnSpc>
              <a:spcBef>
                <a:spcPts val="560"/>
              </a:spcBef>
              <a:spcAft>
                <a:spcPts val="0"/>
              </a:spcAft>
              <a:buClr>
                <a:schemeClr val="dk1"/>
              </a:buClr>
              <a:buSzPts val="2800"/>
              <a:buChar char="•"/>
            </a:pPr>
            <a:r>
              <a:rPr b="1" i="1" lang="en-US" sz="2800"/>
              <a:t>Modeling </a:t>
            </a:r>
            <a:r>
              <a:rPr i="1" lang="en-US" sz="2800"/>
              <a:t>is the designing of software applications</a:t>
            </a:r>
            <a:r>
              <a:rPr lang="en-US" sz="2800"/>
              <a:t> before coding.</a:t>
            </a:r>
            <a:endParaRPr/>
          </a:p>
          <a:p>
            <a:pPr indent="-342900" lvl="0" marL="342900" rtl="0" algn="just">
              <a:lnSpc>
                <a:spcPct val="100000"/>
              </a:lnSpc>
              <a:spcBef>
                <a:spcPts val="560"/>
              </a:spcBef>
              <a:spcAft>
                <a:spcPts val="0"/>
              </a:spcAft>
              <a:buClr>
                <a:schemeClr val="dk1"/>
              </a:buClr>
              <a:buSzPts val="2800"/>
              <a:buChar char="•"/>
            </a:pPr>
            <a:r>
              <a:rPr b="1" i="1" lang="en-US" sz="2800"/>
              <a:t>Modeling</a:t>
            </a:r>
            <a:r>
              <a:rPr lang="en-US" sz="2800"/>
              <a:t> is the way to visualize your design and check it against requirements before you start to code. </a:t>
            </a:r>
            <a:endParaRPr sz="2800"/>
          </a:p>
          <a:p>
            <a:pPr indent="-342900" lvl="0" marL="342900" rtl="0" algn="l">
              <a:lnSpc>
                <a:spcPct val="100000"/>
              </a:lnSpc>
              <a:spcBef>
                <a:spcPts val="480"/>
              </a:spcBef>
              <a:spcAft>
                <a:spcPts val="0"/>
              </a:spcAft>
              <a:buClr>
                <a:schemeClr val="dk1"/>
              </a:buClr>
              <a:buSzPts val="2400"/>
              <a:buChar char="•"/>
            </a:pPr>
            <a:r>
              <a:rPr lang="en-US" sz="2400"/>
              <a:t>A model is not the real world but merely a human construct to help us better understand real world systems. In general all models have an information input, an information processor, and an output of expected results.</a:t>
            </a:r>
            <a:endParaRPr sz="2400"/>
          </a:p>
          <a:p>
            <a:pPr indent="-342900" lvl="0" marL="34290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alibri"/>
              <a:buNone/>
            </a:pPr>
            <a:r>
              <a:t/>
            </a:r>
            <a:endParaRPr sz="2800"/>
          </a:p>
        </p:txBody>
      </p:sp>
      <p:sp>
        <p:nvSpPr>
          <p:cNvPr id="103" name="Google Shape;103;p4"/>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b="1" i="1" lang="en-US" sz="2400"/>
              <a:t>What can you Model with UML?</a:t>
            </a:r>
            <a:endParaRPr/>
          </a:p>
          <a:p>
            <a:pPr indent="-285750" lvl="1" marL="742950" rtl="0" algn="just">
              <a:lnSpc>
                <a:spcPct val="100000"/>
              </a:lnSpc>
              <a:spcBef>
                <a:spcPts val="444"/>
              </a:spcBef>
              <a:spcAft>
                <a:spcPts val="0"/>
              </a:spcAft>
              <a:buClr>
                <a:schemeClr val="dk1"/>
              </a:buClr>
              <a:buSzPct val="100000"/>
              <a:buChar char="–"/>
            </a:pPr>
            <a:r>
              <a:rPr lang="en-US" sz="2000"/>
              <a:t> </a:t>
            </a:r>
            <a:r>
              <a:rPr lang="en-US" sz="2400"/>
              <a:t>UML 2.0 defines thirteen types of diagrams, divided into </a:t>
            </a:r>
            <a:r>
              <a:rPr b="1" i="1" lang="en-US" sz="2400"/>
              <a:t>three</a:t>
            </a:r>
            <a:r>
              <a:rPr lang="en-US" sz="2400"/>
              <a:t> categories: </a:t>
            </a:r>
            <a:r>
              <a:rPr b="1" i="1" lang="en-US" sz="2400"/>
              <a:t>Six diagram types </a:t>
            </a:r>
            <a:r>
              <a:rPr lang="en-US" sz="2400"/>
              <a:t>represent static application structure; three represent general types of behavior; and four represent different aspects of interactions:</a:t>
            </a:r>
            <a:endParaRPr/>
          </a:p>
          <a:p>
            <a:pPr indent="-285750" lvl="1" marL="742950" rtl="0" algn="just">
              <a:lnSpc>
                <a:spcPct val="100000"/>
              </a:lnSpc>
              <a:spcBef>
                <a:spcPts val="444"/>
              </a:spcBef>
              <a:spcAft>
                <a:spcPts val="0"/>
              </a:spcAft>
              <a:buClr>
                <a:srgbClr val="C00000"/>
              </a:buClr>
              <a:buSzPct val="100000"/>
              <a:buChar char="–"/>
            </a:pPr>
            <a:r>
              <a:rPr b="1" lang="en-US" sz="2400">
                <a:solidFill>
                  <a:srgbClr val="C00000"/>
                </a:solidFill>
              </a:rPr>
              <a:t>Structure Diagrams</a:t>
            </a:r>
            <a:r>
              <a:rPr lang="en-US" sz="2400"/>
              <a:t> include the </a:t>
            </a:r>
            <a:r>
              <a:rPr b="1" i="1" lang="en-US" sz="2400"/>
              <a:t>Class Diagram</a:t>
            </a:r>
            <a:r>
              <a:rPr lang="en-US" sz="2400"/>
              <a:t>, Object Diagram, Component Diagram, Composite Structure Diagram, Package Diagram, and Deployment Diagram. </a:t>
            </a:r>
            <a:endParaRPr/>
          </a:p>
          <a:p>
            <a:pPr indent="-285750" lvl="1" marL="742950" rtl="0" algn="just">
              <a:lnSpc>
                <a:spcPct val="100000"/>
              </a:lnSpc>
              <a:spcBef>
                <a:spcPts val="444"/>
              </a:spcBef>
              <a:spcAft>
                <a:spcPts val="0"/>
              </a:spcAft>
              <a:buClr>
                <a:srgbClr val="C00000"/>
              </a:buClr>
              <a:buSzPct val="100000"/>
              <a:buChar char="–"/>
            </a:pPr>
            <a:r>
              <a:rPr b="1" lang="en-US" sz="2400">
                <a:solidFill>
                  <a:srgbClr val="C00000"/>
                </a:solidFill>
              </a:rPr>
              <a:t>Behavior Diagrams</a:t>
            </a:r>
            <a:r>
              <a:rPr lang="en-US" sz="2400"/>
              <a:t> include the </a:t>
            </a:r>
            <a:r>
              <a:rPr b="1" lang="en-US" sz="2400"/>
              <a:t>Use Case</a:t>
            </a:r>
            <a:r>
              <a:rPr lang="en-US" sz="2400"/>
              <a:t> Diagram (used by some methodologies during requirements gathering); </a:t>
            </a:r>
            <a:r>
              <a:rPr b="1" lang="en-US" sz="2400"/>
              <a:t>Activity Diagram</a:t>
            </a:r>
            <a:r>
              <a:rPr lang="en-US" sz="2400"/>
              <a:t>, and </a:t>
            </a:r>
            <a:r>
              <a:rPr b="1" lang="en-US" sz="2400"/>
              <a:t>State Machine Diagram</a:t>
            </a:r>
            <a:r>
              <a:rPr lang="en-US" sz="2400"/>
              <a:t>. </a:t>
            </a:r>
            <a:endParaRPr/>
          </a:p>
          <a:p>
            <a:pPr indent="-285750" lvl="1" marL="742950" rtl="0" algn="just">
              <a:lnSpc>
                <a:spcPct val="100000"/>
              </a:lnSpc>
              <a:spcBef>
                <a:spcPts val="444"/>
              </a:spcBef>
              <a:spcAft>
                <a:spcPts val="0"/>
              </a:spcAft>
              <a:buClr>
                <a:srgbClr val="C00000"/>
              </a:buClr>
              <a:buSzPct val="100000"/>
              <a:buChar char="–"/>
            </a:pPr>
            <a:r>
              <a:rPr b="1" lang="en-US" sz="2400">
                <a:solidFill>
                  <a:srgbClr val="C00000"/>
                </a:solidFill>
              </a:rPr>
              <a:t>Interaction Diagrams</a:t>
            </a:r>
            <a:r>
              <a:rPr b="1" lang="en-US" sz="2400"/>
              <a:t>,</a:t>
            </a:r>
            <a:r>
              <a:rPr lang="en-US" sz="2400"/>
              <a:t> all derived from the more general </a:t>
            </a:r>
            <a:r>
              <a:rPr b="1" lang="en-US" sz="2400"/>
              <a:t>Behavior Diagram</a:t>
            </a:r>
            <a:r>
              <a:rPr lang="en-US" sz="2400"/>
              <a:t>, include the </a:t>
            </a:r>
            <a:r>
              <a:rPr b="1" lang="en-US" sz="2400"/>
              <a:t>Sequence Diagram Communication Diagram</a:t>
            </a:r>
            <a:r>
              <a:rPr lang="en-US" sz="2400"/>
              <a:t>, </a:t>
            </a:r>
            <a:r>
              <a:rPr b="1" lang="en-US" sz="2400"/>
              <a:t>Timing Diagram</a:t>
            </a:r>
            <a:r>
              <a:rPr lang="en-US" sz="2400"/>
              <a:t>, and </a:t>
            </a:r>
            <a:r>
              <a:rPr b="1" lang="en-US" sz="2400"/>
              <a:t>Interaction Overview</a:t>
            </a:r>
            <a:r>
              <a:rPr lang="en-US" sz="2400"/>
              <a:t> Diagram.</a:t>
            </a:r>
            <a:endParaRPr/>
          </a:p>
          <a:p>
            <a:pPr indent="-285750" lvl="1" marL="742950" rtl="0" algn="just">
              <a:lnSpc>
                <a:spcPct val="100000"/>
              </a:lnSpc>
              <a:spcBef>
                <a:spcPts val="444"/>
              </a:spcBef>
              <a:spcAft>
                <a:spcPts val="0"/>
              </a:spcAft>
              <a:buClr>
                <a:schemeClr val="dk1"/>
              </a:buClr>
              <a:buSzPct val="100000"/>
              <a:buNone/>
            </a:pPr>
            <a:r>
              <a:rPr lang="en-US" sz="2400"/>
              <a:t> </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Overview</a:t>
            </a:r>
            <a:endParaRPr sz="2800"/>
          </a:p>
        </p:txBody>
      </p:sp>
      <p:sp>
        <p:nvSpPr>
          <p:cNvPr id="109" name="Google Shape;109;p5"/>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400"/>
              <a:buChar char="•"/>
            </a:pPr>
            <a:r>
              <a:rPr lang="en-US" sz="2400"/>
              <a:t>The class diagram is a </a:t>
            </a:r>
            <a:r>
              <a:rPr b="1" lang="en-US" sz="2400">
                <a:solidFill>
                  <a:srgbClr val="C00000"/>
                </a:solidFill>
              </a:rPr>
              <a:t>static diagram</a:t>
            </a:r>
            <a:r>
              <a:rPr b="1" lang="en-US" sz="2400"/>
              <a:t>. </a:t>
            </a:r>
            <a:endParaRPr b="1" sz="2400"/>
          </a:p>
          <a:p>
            <a:pPr indent="-342900" lvl="0" marL="342900" rtl="0" algn="just">
              <a:lnSpc>
                <a:spcPct val="100000"/>
              </a:lnSpc>
              <a:spcBef>
                <a:spcPts val="480"/>
              </a:spcBef>
              <a:spcAft>
                <a:spcPts val="0"/>
              </a:spcAft>
              <a:buClr>
                <a:schemeClr val="dk1"/>
              </a:buClr>
              <a:buSzPts val="2400"/>
              <a:buChar char="•"/>
            </a:pPr>
            <a:r>
              <a:rPr lang="en-US" sz="2400"/>
              <a:t>It represents the </a:t>
            </a:r>
            <a:r>
              <a:rPr b="1" lang="en-US" sz="2400">
                <a:solidFill>
                  <a:srgbClr val="C00000"/>
                </a:solidFill>
              </a:rPr>
              <a:t>static view </a:t>
            </a:r>
            <a:r>
              <a:rPr lang="en-US" sz="2400"/>
              <a:t>of an application</a:t>
            </a:r>
            <a:endParaRPr/>
          </a:p>
          <a:p>
            <a:pPr indent="-342900" lvl="0" marL="342900" rtl="0" algn="just">
              <a:lnSpc>
                <a:spcPct val="100000"/>
              </a:lnSpc>
              <a:spcBef>
                <a:spcPts val="480"/>
              </a:spcBef>
              <a:spcAft>
                <a:spcPts val="0"/>
              </a:spcAft>
              <a:buClr>
                <a:schemeClr val="dk1"/>
              </a:buClr>
              <a:buSzPts val="2400"/>
              <a:buChar char="•"/>
            </a:pPr>
            <a:r>
              <a:rPr lang="en-US" sz="2400"/>
              <a:t>The class diagram describes the </a:t>
            </a:r>
            <a:r>
              <a:rPr b="1" lang="en-US" sz="2400">
                <a:solidFill>
                  <a:srgbClr val="C00000"/>
                </a:solidFill>
              </a:rPr>
              <a:t>attributes</a:t>
            </a:r>
            <a:r>
              <a:rPr lang="en-US" sz="2400"/>
              <a:t> and operations of a class and also the constraints imposed on the system</a:t>
            </a:r>
            <a:endParaRPr/>
          </a:p>
          <a:p>
            <a:pPr indent="-342900" lvl="0" marL="342900" rtl="0" algn="just">
              <a:lnSpc>
                <a:spcPct val="100000"/>
              </a:lnSpc>
              <a:spcBef>
                <a:spcPts val="480"/>
              </a:spcBef>
              <a:spcAft>
                <a:spcPts val="0"/>
              </a:spcAft>
              <a:buClr>
                <a:schemeClr val="dk1"/>
              </a:buClr>
              <a:buSzPts val="2400"/>
              <a:buChar char="•"/>
            </a:pPr>
            <a:r>
              <a:rPr lang="en-US" sz="2400"/>
              <a:t>UML diagrams  can be mapped directly with object oriented languages.</a:t>
            </a:r>
            <a:endParaRPr/>
          </a:p>
          <a:p>
            <a:pPr indent="-342900" lvl="0" marL="342900" rtl="0" algn="just">
              <a:lnSpc>
                <a:spcPct val="100000"/>
              </a:lnSpc>
              <a:spcBef>
                <a:spcPts val="480"/>
              </a:spcBef>
              <a:spcAft>
                <a:spcPts val="0"/>
              </a:spcAft>
              <a:buClr>
                <a:schemeClr val="dk1"/>
              </a:buClr>
              <a:buSzPts val="2400"/>
              <a:buChar char="•"/>
            </a:pPr>
            <a:r>
              <a:rPr lang="en-US" sz="2400"/>
              <a:t>The class diagram shows a collection of classes, interfaces, associations, collaborations and constraints.</a:t>
            </a:r>
            <a:endParaRPr/>
          </a:p>
          <a:p>
            <a:pPr indent="-342900" lvl="0" marL="342900" rtl="0" algn="just">
              <a:lnSpc>
                <a:spcPct val="100000"/>
              </a:lnSpc>
              <a:spcBef>
                <a:spcPts val="480"/>
              </a:spcBef>
              <a:spcAft>
                <a:spcPts val="0"/>
              </a:spcAft>
              <a:buClr>
                <a:srgbClr val="C00000"/>
              </a:buClr>
              <a:buSzPts val="2400"/>
              <a:buChar char="•"/>
            </a:pPr>
            <a:r>
              <a:rPr b="1" lang="en-US" sz="2400">
                <a:solidFill>
                  <a:srgbClr val="C00000"/>
                </a:solidFill>
              </a:rPr>
              <a:t>UML class diagrams</a:t>
            </a:r>
            <a:r>
              <a:rPr lang="en-US" sz="2400">
                <a:solidFill>
                  <a:srgbClr val="C00000"/>
                </a:solidFill>
              </a:rPr>
              <a:t> </a:t>
            </a:r>
            <a:r>
              <a:rPr lang="en-US" sz="2400"/>
              <a:t>show the classes of the system, their inter-relationships, and the operations and attributes of the classes. Class diagrams are typically used, although not all at once, to:</a:t>
            </a:r>
            <a:endParaRPr/>
          </a:p>
          <a:p>
            <a:pPr indent="-285750" lvl="1" marL="742950" rtl="0" algn="l">
              <a:lnSpc>
                <a:spcPct val="100000"/>
              </a:lnSpc>
              <a:spcBef>
                <a:spcPts val="400"/>
              </a:spcBef>
              <a:spcAft>
                <a:spcPts val="0"/>
              </a:spcAft>
              <a:buClr>
                <a:schemeClr val="dk1"/>
              </a:buClr>
              <a:buSzPts val="2000"/>
              <a:buChar char="–"/>
            </a:pPr>
            <a:r>
              <a:rPr lang="en-US" sz="2000"/>
              <a:t>Explore domain concepts in the form of a domain model</a:t>
            </a:r>
            <a:endParaRPr/>
          </a:p>
          <a:p>
            <a:pPr indent="-285750" lvl="1" marL="742950" rtl="0" algn="l">
              <a:lnSpc>
                <a:spcPct val="100000"/>
              </a:lnSpc>
              <a:spcBef>
                <a:spcPts val="400"/>
              </a:spcBef>
              <a:spcAft>
                <a:spcPts val="0"/>
              </a:spcAft>
              <a:buClr>
                <a:schemeClr val="dk1"/>
              </a:buClr>
              <a:buSzPts val="2000"/>
              <a:buChar char="–"/>
            </a:pPr>
            <a:r>
              <a:rPr lang="en-US" sz="2000"/>
              <a:t>Analyze requirements in the form of a conceptual/analysis model</a:t>
            </a:r>
            <a:endParaRPr/>
          </a:p>
          <a:p>
            <a:pPr indent="-285750" lvl="1" marL="742950" rtl="0" algn="l">
              <a:lnSpc>
                <a:spcPct val="100000"/>
              </a:lnSpc>
              <a:spcBef>
                <a:spcPts val="400"/>
              </a:spcBef>
              <a:spcAft>
                <a:spcPts val="0"/>
              </a:spcAft>
              <a:buClr>
                <a:schemeClr val="dk1"/>
              </a:buClr>
              <a:buSzPts val="2000"/>
              <a:buChar char="–"/>
            </a:pPr>
            <a:r>
              <a:rPr lang="en-US" sz="2000"/>
              <a:t>Depict the detailed design of object-oriented or object-based software</a:t>
            </a:r>
            <a:endParaRPr/>
          </a:p>
          <a:p>
            <a:pPr indent="-190500" lvl="0" marL="342900" rtl="0" algn="l">
              <a:lnSpc>
                <a:spcPct val="100000"/>
              </a:lnSpc>
              <a:spcBef>
                <a:spcPts val="480"/>
              </a:spcBef>
              <a:spcAft>
                <a:spcPts val="0"/>
              </a:spcAft>
              <a:buClr>
                <a:schemeClr val="dk1"/>
              </a:buClr>
              <a:buSzPts val="2400"/>
              <a:buNone/>
            </a:pPr>
            <a:r>
              <a:t/>
            </a:r>
            <a:endParaRPr sz="2400"/>
          </a:p>
          <a:p>
            <a:pPr indent="-190500" lvl="0" marL="34290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Purpose</a:t>
            </a:r>
            <a:endParaRPr sz="2800"/>
          </a:p>
        </p:txBody>
      </p:sp>
      <p:sp>
        <p:nvSpPr>
          <p:cNvPr id="115" name="Google Shape;115;p6"/>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The purpose of the class diagram can be summarized as:</a:t>
            </a:r>
            <a:endParaRPr/>
          </a:p>
          <a:p>
            <a:pPr indent="-190500" lvl="0" marL="342900" rtl="0" algn="l">
              <a:lnSpc>
                <a:spcPct val="100000"/>
              </a:lnSpc>
              <a:spcBef>
                <a:spcPts val="480"/>
              </a:spcBef>
              <a:spcAft>
                <a:spcPts val="0"/>
              </a:spcAft>
              <a:buClr>
                <a:schemeClr val="dk1"/>
              </a:buClr>
              <a:buSzPts val="2400"/>
              <a:buNone/>
            </a:pPr>
            <a:r>
              <a:t/>
            </a:r>
            <a:endParaRPr sz="2400"/>
          </a:p>
          <a:p>
            <a:pPr indent="-285750" lvl="1" marL="742950" rtl="0" algn="l">
              <a:lnSpc>
                <a:spcPct val="100000"/>
              </a:lnSpc>
              <a:spcBef>
                <a:spcPts val="480"/>
              </a:spcBef>
              <a:spcAft>
                <a:spcPts val="0"/>
              </a:spcAft>
              <a:buClr>
                <a:schemeClr val="dk1"/>
              </a:buClr>
              <a:buSzPts val="2400"/>
              <a:buChar char="–"/>
            </a:pPr>
            <a:r>
              <a:rPr b="1" lang="en-US" sz="2400"/>
              <a:t>Analysis and design of the static view of an application.</a:t>
            </a:r>
            <a:endParaRPr sz="2400"/>
          </a:p>
          <a:p>
            <a:pPr indent="-285750" lvl="1" marL="742950" rtl="0" algn="l">
              <a:lnSpc>
                <a:spcPct val="100000"/>
              </a:lnSpc>
              <a:spcBef>
                <a:spcPts val="480"/>
              </a:spcBef>
              <a:spcAft>
                <a:spcPts val="0"/>
              </a:spcAft>
              <a:buClr>
                <a:schemeClr val="dk1"/>
              </a:buClr>
              <a:buSzPts val="2400"/>
              <a:buChar char="–"/>
            </a:pPr>
            <a:r>
              <a:rPr b="1" lang="en-US" sz="2400"/>
              <a:t>Describe responsibilities of a system.</a:t>
            </a:r>
            <a:endParaRPr sz="2400"/>
          </a:p>
          <a:p>
            <a:pPr indent="-285750" lvl="1" marL="742950" rtl="0" algn="l">
              <a:lnSpc>
                <a:spcPct val="100000"/>
              </a:lnSpc>
              <a:spcBef>
                <a:spcPts val="480"/>
              </a:spcBef>
              <a:spcAft>
                <a:spcPts val="0"/>
              </a:spcAft>
              <a:buClr>
                <a:schemeClr val="dk1"/>
              </a:buClr>
              <a:buSzPts val="2400"/>
              <a:buChar char="–"/>
            </a:pPr>
            <a:r>
              <a:rPr lang="en-US" sz="2400"/>
              <a:t>Base for component and deployment diagrams.</a:t>
            </a:r>
            <a:endParaRPr/>
          </a:p>
          <a:p>
            <a:pPr indent="-342900" lvl="0" marL="34290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How to draw class diagrams</a:t>
            </a:r>
            <a:endParaRPr sz="2800"/>
          </a:p>
        </p:txBody>
      </p:sp>
      <p:sp>
        <p:nvSpPr>
          <p:cNvPr id="121" name="Google Shape;121;p7"/>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UML </a:t>
            </a:r>
            <a:r>
              <a:rPr i="1" lang="en-US" sz="2000"/>
              <a:t>class</a:t>
            </a:r>
            <a:r>
              <a:rPr lang="en-US" sz="2000"/>
              <a:t> is represented by the diagram shown below. The diagram is divided into four parts.</a:t>
            </a:r>
            <a:endParaRPr/>
          </a:p>
          <a:p>
            <a:pPr indent="-342900" lvl="0" marL="342900" rtl="0" algn="l">
              <a:lnSpc>
                <a:spcPct val="100000"/>
              </a:lnSpc>
              <a:spcBef>
                <a:spcPts val="400"/>
              </a:spcBef>
              <a:spcAft>
                <a:spcPts val="0"/>
              </a:spcAft>
              <a:buClr>
                <a:schemeClr val="dk1"/>
              </a:buClr>
              <a:buSzPts val="2000"/>
              <a:buChar char="•"/>
            </a:pPr>
            <a:r>
              <a:rPr lang="en-US" sz="2000"/>
              <a:t>The top section is used to name the class.</a:t>
            </a:r>
            <a:endParaRPr/>
          </a:p>
          <a:p>
            <a:pPr indent="-342900" lvl="0" marL="342900" rtl="0" algn="l">
              <a:lnSpc>
                <a:spcPct val="100000"/>
              </a:lnSpc>
              <a:spcBef>
                <a:spcPts val="400"/>
              </a:spcBef>
              <a:spcAft>
                <a:spcPts val="0"/>
              </a:spcAft>
              <a:buClr>
                <a:schemeClr val="dk1"/>
              </a:buClr>
              <a:buSzPts val="2000"/>
              <a:buChar char="•"/>
            </a:pPr>
            <a:r>
              <a:rPr lang="en-US" sz="2000"/>
              <a:t>The second one is used to show the attributes of the class.</a:t>
            </a:r>
            <a:endParaRPr/>
          </a:p>
          <a:p>
            <a:pPr indent="-342900" lvl="0" marL="342900" rtl="0" algn="l">
              <a:lnSpc>
                <a:spcPct val="100000"/>
              </a:lnSpc>
              <a:spcBef>
                <a:spcPts val="400"/>
              </a:spcBef>
              <a:spcAft>
                <a:spcPts val="0"/>
              </a:spcAft>
              <a:buClr>
                <a:schemeClr val="dk1"/>
              </a:buClr>
              <a:buSzPts val="2000"/>
              <a:buChar char="•"/>
            </a:pPr>
            <a:r>
              <a:rPr lang="en-US" sz="2000"/>
              <a:t>The third section is used to describe the operations performed by the class.</a:t>
            </a:r>
            <a:endParaRPr/>
          </a:p>
          <a:p>
            <a:pPr indent="-342900" lvl="0" marL="342900" rtl="0" algn="l">
              <a:lnSpc>
                <a:spcPct val="100000"/>
              </a:lnSpc>
              <a:spcBef>
                <a:spcPts val="400"/>
              </a:spcBef>
              <a:spcAft>
                <a:spcPts val="0"/>
              </a:spcAft>
              <a:buClr>
                <a:schemeClr val="dk1"/>
              </a:buClr>
              <a:buSzPts val="2000"/>
              <a:buChar char="•"/>
            </a:pPr>
            <a:r>
              <a:rPr lang="en-US" sz="2000"/>
              <a:t>The fourth section is optional to show any additional components.</a:t>
            </a:r>
            <a:endParaRPr/>
          </a:p>
          <a:p>
            <a:pPr indent="-342900" lvl="0" marL="342900" rtl="0" algn="l">
              <a:lnSpc>
                <a:spcPct val="100000"/>
              </a:lnSpc>
              <a:spcBef>
                <a:spcPts val="480"/>
              </a:spcBef>
              <a:spcAft>
                <a:spcPts val="0"/>
              </a:spcAft>
              <a:buClr>
                <a:schemeClr val="dk1"/>
              </a:buClr>
              <a:buSzPts val="2400"/>
              <a:buNone/>
            </a:pPr>
            <a:r>
              <a:t/>
            </a:r>
            <a:endParaRPr sz="2400"/>
          </a:p>
        </p:txBody>
      </p:sp>
      <p:pic>
        <p:nvPicPr>
          <p:cNvPr descr="Class Notation" id="122" name="Google Shape;122;p7"/>
          <p:cNvPicPr preferRelativeResize="0"/>
          <p:nvPr/>
        </p:nvPicPr>
        <p:blipFill rotWithShape="1">
          <a:blip r:embed="rId3">
            <a:alphaModFix/>
          </a:blip>
          <a:srcRect b="0" l="0" r="0" t="0"/>
          <a:stretch/>
        </p:blipFill>
        <p:spPr>
          <a:xfrm>
            <a:off x="533400" y="3429000"/>
            <a:ext cx="7315200" cy="320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Guidelines to draw class diagrams</a:t>
            </a:r>
            <a:endParaRPr sz="2800"/>
          </a:p>
        </p:txBody>
      </p:sp>
      <p:sp>
        <p:nvSpPr>
          <p:cNvPr id="128" name="Google Shape;128;p8"/>
          <p:cNvSpPr txBox="1"/>
          <p:nvPr>
            <p:ph idx="1" type="body"/>
          </p:nvPr>
        </p:nvSpPr>
        <p:spPr>
          <a:xfrm>
            <a:off x="457200" y="11430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Use Common Terminology for Names</a:t>
            </a:r>
            <a:endParaRPr/>
          </a:p>
          <a:p>
            <a:pPr indent="-342900" lvl="0" marL="342900" rtl="0" algn="l">
              <a:lnSpc>
                <a:spcPct val="100000"/>
              </a:lnSpc>
              <a:spcBef>
                <a:spcPts val="480"/>
              </a:spcBef>
              <a:spcAft>
                <a:spcPts val="0"/>
              </a:spcAft>
              <a:buClr>
                <a:schemeClr val="dk1"/>
              </a:buClr>
              <a:buSzPts val="2400"/>
              <a:buChar char="•"/>
            </a:pPr>
            <a:r>
              <a:rPr lang="en-US" sz="2400"/>
              <a:t>Prefer Complete Singular Nouns for Class Names</a:t>
            </a:r>
            <a:endParaRPr/>
          </a:p>
          <a:p>
            <a:pPr indent="-342900" lvl="0" marL="342900" rtl="0" algn="l">
              <a:lnSpc>
                <a:spcPct val="100000"/>
              </a:lnSpc>
              <a:spcBef>
                <a:spcPts val="480"/>
              </a:spcBef>
              <a:spcAft>
                <a:spcPts val="0"/>
              </a:spcAft>
              <a:buClr>
                <a:schemeClr val="dk1"/>
              </a:buClr>
              <a:buSzPts val="2400"/>
              <a:buChar char="•"/>
            </a:pPr>
            <a:r>
              <a:rPr lang="en-US" sz="2400"/>
              <a:t>Name Operations with a Strong Verb</a:t>
            </a:r>
            <a:endParaRPr/>
          </a:p>
          <a:p>
            <a:pPr indent="-342900" lvl="0" marL="342900" rtl="0" algn="l">
              <a:lnSpc>
                <a:spcPct val="100000"/>
              </a:lnSpc>
              <a:spcBef>
                <a:spcPts val="480"/>
              </a:spcBef>
              <a:spcAft>
                <a:spcPts val="0"/>
              </a:spcAft>
              <a:buClr>
                <a:schemeClr val="dk1"/>
              </a:buClr>
              <a:buSzPts val="2400"/>
              <a:buChar char="•"/>
            </a:pPr>
            <a:r>
              <a:rPr lang="en-US" sz="2400"/>
              <a:t>Name Attributes With a Domain-Based Noun</a:t>
            </a:r>
            <a:endParaRPr/>
          </a:p>
          <a:p>
            <a:pPr indent="-342900" lvl="0" marL="342900" rtl="0" algn="l">
              <a:lnSpc>
                <a:spcPct val="100000"/>
              </a:lnSpc>
              <a:spcBef>
                <a:spcPts val="480"/>
              </a:spcBef>
              <a:spcAft>
                <a:spcPts val="0"/>
              </a:spcAft>
              <a:buClr>
                <a:schemeClr val="dk1"/>
              </a:buClr>
              <a:buSzPts val="2400"/>
              <a:buChar char="•"/>
            </a:pPr>
            <a:r>
              <a:rPr lang="en-US" sz="2400"/>
              <a:t>Never Show Classes With Just Two Compartments</a:t>
            </a:r>
            <a:endParaRPr/>
          </a:p>
          <a:p>
            <a:pPr indent="-342900" lvl="0" marL="342900" rtl="0" algn="l">
              <a:lnSpc>
                <a:spcPct val="100000"/>
              </a:lnSpc>
              <a:spcBef>
                <a:spcPts val="480"/>
              </a:spcBef>
              <a:spcAft>
                <a:spcPts val="0"/>
              </a:spcAft>
              <a:buClr>
                <a:schemeClr val="dk1"/>
              </a:buClr>
              <a:buSzPts val="2400"/>
              <a:buChar char="•"/>
            </a:pPr>
            <a:r>
              <a:rPr lang="en-US" sz="2400"/>
              <a:t>Include an Ellipsis ( . . . ) At The End of Incomplete Lists</a:t>
            </a:r>
            <a:endParaRPr/>
          </a:p>
          <a:p>
            <a:pPr indent="-342900" lvl="0" marL="342900" rtl="0" algn="l">
              <a:lnSpc>
                <a:spcPct val="100000"/>
              </a:lnSpc>
              <a:spcBef>
                <a:spcPts val="480"/>
              </a:spcBef>
              <a:spcAft>
                <a:spcPts val="0"/>
              </a:spcAft>
              <a:buClr>
                <a:schemeClr val="dk1"/>
              </a:buClr>
              <a:buSzPts val="2400"/>
              <a:buChar char="•"/>
            </a:pPr>
            <a:r>
              <a:rPr lang="en-US" sz="2400"/>
              <a:t>List Static Operations/Attributes Before Instance Operations/Attributes</a:t>
            </a:r>
            <a:endParaRPr/>
          </a:p>
          <a:p>
            <a:pPr indent="-342900" lvl="0" marL="342900" rtl="0" algn="l">
              <a:lnSpc>
                <a:spcPct val="100000"/>
              </a:lnSpc>
              <a:spcBef>
                <a:spcPts val="480"/>
              </a:spcBef>
              <a:spcAft>
                <a:spcPts val="0"/>
              </a:spcAft>
              <a:buClr>
                <a:schemeClr val="dk1"/>
              </a:buClr>
              <a:buSzPts val="2400"/>
              <a:buChar char="•"/>
            </a:pPr>
            <a:r>
              <a:rPr lang="en-US" sz="2400"/>
              <a:t>List Operations/Attributes in Decreasing Visibility</a:t>
            </a:r>
            <a:endParaRPr/>
          </a:p>
          <a:p>
            <a:pPr indent="-342900" lvl="0" marL="342900" rtl="0" algn="l">
              <a:lnSpc>
                <a:spcPct val="100000"/>
              </a:lnSpc>
              <a:spcBef>
                <a:spcPts val="480"/>
              </a:spcBef>
              <a:spcAft>
                <a:spcPts val="0"/>
              </a:spcAft>
              <a:buClr>
                <a:schemeClr val="dk1"/>
              </a:buClr>
              <a:buSzPts val="2400"/>
              <a:buChar char="•"/>
            </a:pPr>
            <a:r>
              <a:rPr lang="en-US" sz="2400"/>
              <a:t>For Parameters That Are Objects, Only List Their Type</a:t>
            </a:r>
            <a:endParaRPr/>
          </a:p>
          <a:p>
            <a:pPr indent="-342900" lvl="0" marL="342900" rtl="0" algn="l">
              <a:lnSpc>
                <a:spcPct val="100000"/>
              </a:lnSpc>
              <a:spcBef>
                <a:spcPts val="480"/>
              </a:spcBef>
              <a:spcAft>
                <a:spcPts val="0"/>
              </a:spcAft>
              <a:buClr>
                <a:schemeClr val="dk1"/>
              </a:buClr>
              <a:buSzPts val="2400"/>
              <a:buChar char="•"/>
            </a:pPr>
            <a:r>
              <a:rPr lang="en-US" sz="2400"/>
              <a:t>Develop Consistent Method Signatures</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Guidelines……………..</a:t>
            </a:r>
            <a:endParaRPr sz="2800"/>
          </a:p>
        </p:txBody>
      </p:sp>
      <p:sp>
        <p:nvSpPr>
          <p:cNvPr id="134" name="Google Shape;134;p9"/>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Indicate Exceptions In An Operation's Property String. Exceptions can be indicated with a UML property string, an example of which is shown below.</a:t>
            </a:r>
            <a:endParaRPr/>
          </a:p>
          <a:p>
            <a:pPr indent="-190500" lvl="0" marL="342900" rtl="0" algn="l">
              <a:lnSpc>
                <a:spcPct val="100000"/>
              </a:lnSpc>
              <a:spcBef>
                <a:spcPts val="480"/>
              </a:spcBef>
              <a:spcAft>
                <a:spcPts val="0"/>
              </a:spcAft>
              <a:buClr>
                <a:schemeClr val="dk1"/>
              </a:buClr>
              <a:buSzPts val="2400"/>
              <a:buNone/>
            </a:pPr>
            <a:r>
              <a:t/>
            </a:r>
            <a:endParaRPr sz="2400"/>
          </a:p>
          <a:p>
            <a:pPr indent="-285750" lvl="1" marL="742950" rtl="0" algn="l">
              <a:lnSpc>
                <a:spcPct val="100000"/>
              </a:lnSpc>
              <a:spcBef>
                <a:spcPts val="400"/>
              </a:spcBef>
              <a:spcAft>
                <a:spcPts val="0"/>
              </a:spcAft>
              <a:buClr>
                <a:schemeClr val="dk1"/>
              </a:buClr>
              <a:buSzPts val="2000"/>
              <a:buChar char="–"/>
            </a:pPr>
            <a:r>
              <a:rPr b="1" lang="en-US" sz="2000"/>
              <a:t>+ findAllInstances(): Vector {exceptions=NetworkFailure, DatabaseError}</a:t>
            </a:r>
            <a:endParaRPr/>
          </a:p>
          <a:p>
            <a:pPr indent="-190500" lvl="0" marL="342900" rtl="0" algn="l">
              <a:lnSpc>
                <a:spcPct val="100000"/>
              </a:lnSpc>
              <a:spcBef>
                <a:spcPts val="480"/>
              </a:spcBef>
              <a:spcAft>
                <a:spcPts val="0"/>
              </a:spcAft>
              <a:buClr>
                <a:schemeClr val="dk1"/>
              </a:buClr>
              <a:buSzPts val="2400"/>
              <a:buNone/>
            </a:pPr>
            <a:r>
              <a:t/>
            </a:r>
            <a:endParaRPr sz="2400"/>
          </a:p>
          <a:p>
            <a:pPr indent="-190500" lvl="0" marL="342900" rtl="0" algn="l">
              <a:lnSpc>
                <a:spcPct val="100000"/>
              </a:lnSpc>
              <a:spcBef>
                <a:spcPts val="480"/>
              </a:spcBef>
              <a:spcAft>
                <a:spcPts val="0"/>
              </a:spcAft>
              <a:buClr>
                <a:schemeClr val="dk1"/>
              </a:buClr>
              <a:buSzPts val="2400"/>
              <a:buNone/>
            </a:pPr>
            <a:r>
              <a:t/>
            </a:r>
            <a:endParaRPr sz="2400"/>
          </a:p>
          <a:p>
            <a:pPr indent="-190500" lvl="0" marL="342900" rtl="0" algn="l">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br>
              <a:rPr b="1" lang="en-US" sz="2800"/>
            </a:br>
            <a:r>
              <a:rPr b="1" lang="en-US" sz="2800"/>
              <a:t>UML Class Diagram Relationships, Aggregation, Composition</a:t>
            </a:r>
            <a:br>
              <a:rPr b="1" lang="en-US" sz="2800"/>
            </a:br>
            <a:endParaRPr sz="2800"/>
          </a:p>
        </p:txBody>
      </p:sp>
      <p:sp>
        <p:nvSpPr>
          <p:cNvPr id="140" name="Google Shape;140;p10"/>
          <p:cNvSpPr txBox="1"/>
          <p:nvPr>
            <p:ph idx="1" type="body"/>
          </p:nvPr>
        </p:nvSpPr>
        <p:spPr>
          <a:xfrm>
            <a:off x="457200" y="990600"/>
            <a:ext cx="8229600" cy="57150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There are five key relationships between classes in a UML class diagram</a:t>
            </a:r>
            <a:endParaRPr/>
          </a:p>
          <a:p>
            <a:pPr indent="-190500" lvl="0" marL="342900" rtl="0" algn="l">
              <a:lnSpc>
                <a:spcPct val="100000"/>
              </a:lnSpc>
              <a:spcBef>
                <a:spcPts val="480"/>
              </a:spcBef>
              <a:spcAft>
                <a:spcPts val="0"/>
              </a:spcAft>
              <a:buClr>
                <a:schemeClr val="dk1"/>
              </a:buClr>
              <a:buSzPts val="2400"/>
              <a:buNone/>
            </a:pPr>
            <a:r>
              <a:t/>
            </a:r>
            <a:endParaRPr sz="2400"/>
          </a:p>
        </p:txBody>
      </p:sp>
      <p:pic>
        <p:nvPicPr>
          <p:cNvPr descr="http://2.bp.blogspot.com/-EjTahSiP7is/UKj8B-wIQeI/AAAAAAAAACE/seDeXyS8pKU/s1600/relationships.jpg" id="141" name="Google Shape;141;p10">
            <a:hlinkClick r:id="rId3"/>
          </p:cNvPr>
          <p:cNvPicPr preferRelativeResize="0"/>
          <p:nvPr/>
        </p:nvPicPr>
        <p:blipFill rotWithShape="1">
          <a:blip r:embed="rId4">
            <a:alphaModFix/>
          </a:blip>
          <a:srcRect b="0" l="0" r="0" t="0"/>
          <a:stretch/>
        </p:blipFill>
        <p:spPr>
          <a:xfrm>
            <a:off x="990600" y="1752600"/>
            <a:ext cx="6934200" cy="4876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1"/>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Association</a:t>
            </a:r>
            <a:endParaRPr sz="2800"/>
          </a:p>
        </p:txBody>
      </p:sp>
      <p:sp>
        <p:nvSpPr>
          <p:cNvPr id="147" name="Google Shape;147;p11"/>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An </a:t>
            </a:r>
            <a:r>
              <a:rPr i="1" lang="en-US" sz="2400"/>
              <a:t>association</a:t>
            </a:r>
            <a:r>
              <a:rPr lang="en-US" sz="2400"/>
              <a:t> represents a family of links</a:t>
            </a:r>
            <a:endParaRPr/>
          </a:p>
          <a:p>
            <a:pPr indent="-342900" lvl="0" marL="342900" rtl="0" algn="l">
              <a:lnSpc>
                <a:spcPct val="100000"/>
              </a:lnSpc>
              <a:spcBef>
                <a:spcPts val="480"/>
              </a:spcBef>
              <a:spcAft>
                <a:spcPts val="0"/>
              </a:spcAft>
              <a:buClr>
                <a:schemeClr val="dk1"/>
              </a:buClr>
              <a:buSzPts val="2400"/>
              <a:buChar char="•"/>
            </a:pPr>
            <a:r>
              <a:rPr lang="en-US" sz="2400"/>
              <a:t>A binary association (with two ends) is normally represented as a line</a:t>
            </a:r>
            <a:endParaRPr/>
          </a:p>
          <a:p>
            <a:pPr indent="-342900" lvl="0" marL="342900" rtl="0" algn="l">
              <a:lnSpc>
                <a:spcPct val="100000"/>
              </a:lnSpc>
              <a:spcBef>
                <a:spcPts val="480"/>
              </a:spcBef>
              <a:spcAft>
                <a:spcPts val="0"/>
              </a:spcAft>
              <a:buClr>
                <a:schemeClr val="dk1"/>
              </a:buClr>
              <a:buSzPts val="2400"/>
              <a:buChar char="•"/>
            </a:pPr>
            <a:r>
              <a:rPr lang="en-US" sz="2400"/>
              <a:t>An association can link any number of classes. </a:t>
            </a:r>
            <a:endParaRPr/>
          </a:p>
          <a:p>
            <a:pPr indent="-342900" lvl="0" marL="342900" rtl="0" algn="l">
              <a:lnSpc>
                <a:spcPct val="100000"/>
              </a:lnSpc>
              <a:spcBef>
                <a:spcPts val="480"/>
              </a:spcBef>
              <a:spcAft>
                <a:spcPts val="0"/>
              </a:spcAft>
              <a:buClr>
                <a:schemeClr val="dk1"/>
              </a:buClr>
              <a:buSzPts val="2400"/>
              <a:buChar char="•"/>
            </a:pPr>
            <a:r>
              <a:rPr lang="en-US" sz="2400"/>
              <a:t>An association can be named, and the ends of an association can be adorned with role names, ownership indicators, multiplicity, visibility, and other properties.</a:t>
            </a:r>
            <a:endParaRPr/>
          </a:p>
          <a:p>
            <a:pPr indent="-342900" lvl="0" marL="342900" rtl="0" algn="l">
              <a:lnSpc>
                <a:spcPct val="100000"/>
              </a:lnSpc>
              <a:spcBef>
                <a:spcPts val="480"/>
              </a:spcBef>
              <a:spcAft>
                <a:spcPts val="0"/>
              </a:spcAft>
              <a:buClr>
                <a:schemeClr val="dk1"/>
              </a:buClr>
              <a:buSzPts val="2400"/>
              <a:buChar char="•"/>
            </a:pPr>
            <a:r>
              <a:rPr lang="en-US" sz="2400"/>
              <a:t>Association represents the static relationship shared among the objects of two classes.</a:t>
            </a:r>
            <a:endParaRPr/>
          </a:p>
          <a:p>
            <a:pPr indent="-342900" lvl="0" marL="342900" rtl="0" algn="l">
              <a:lnSpc>
                <a:spcPct val="100000"/>
              </a:lnSpc>
              <a:spcBef>
                <a:spcPts val="480"/>
              </a:spcBef>
              <a:spcAft>
                <a:spcPts val="0"/>
              </a:spcAft>
              <a:buClr>
                <a:schemeClr val="dk1"/>
              </a:buClr>
              <a:buSzPts val="2400"/>
              <a:buNone/>
            </a:pPr>
            <a:br>
              <a:rPr lang="en-US" sz="2400"/>
            </a:br>
            <a:endParaRPr sz="2400"/>
          </a:p>
        </p:txBody>
      </p:sp>
      <p:pic>
        <p:nvPicPr>
          <p:cNvPr descr="http://upload.wikimedia.org/wikipedia/commons/thumb/4/4d/UML_role_example.gif/400px-UML_role_example.gif" id="148" name="Google Shape;148;p11">
            <a:hlinkClick r:id="rId3"/>
          </p:cNvPr>
          <p:cNvPicPr preferRelativeResize="0"/>
          <p:nvPr/>
        </p:nvPicPr>
        <p:blipFill rotWithShape="1">
          <a:blip r:embed="rId4">
            <a:alphaModFix/>
          </a:blip>
          <a:srcRect b="0" l="0" r="0" t="0"/>
          <a:stretch/>
        </p:blipFill>
        <p:spPr>
          <a:xfrm>
            <a:off x="1828800" y="5105400"/>
            <a:ext cx="4800600" cy="1524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Association Types: Aggregation/ Composition</a:t>
            </a:r>
            <a:endParaRPr sz="2800"/>
          </a:p>
        </p:txBody>
      </p:sp>
      <p:sp>
        <p:nvSpPr>
          <p:cNvPr id="154" name="Google Shape;154;p12"/>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Aggregation</a:t>
            </a:r>
            <a:endParaRPr/>
          </a:p>
          <a:p>
            <a:pPr indent="-285750" lvl="1" marL="742950" rtl="0" algn="l">
              <a:lnSpc>
                <a:spcPct val="100000"/>
              </a:lnSpc>
              <a:spcBef>
                <a:spcPts val="400"/>
              </a:spcBef>
              <a:spcAft>
                <a:spcPts val="0"/>
              </a:spcAft>
              <a:buClr>
                <a:schemeClr val="dk1"/>
              </a:buClr>
              <a:buSzPts val="2000"/>
              <a:buChar char="–"/>
            </a:pPr>
            <a:r>
              <a:rPr b="1" i="1" lang="en-US" sz="2000"/>
              <a:t>Aggregation</a:t>
            </a:r>
            <a:r>
              <a:rPr lang="en-US" sz="2000"/>
              <a:t> is a variant of the "has a" association relationship; aggregation is more specific than association.</a:t>
            </a:r>
            <a:endParaRPr/>
          </a:p>
          <a:p>
            <a:pPr indent="-285750" lvl="1" marL="742950" rtl="0" algn="l">
              <a:lnSpc>
                <a:spcPct val="100000"/>
              </a:lnSpc>
              <a:spcBef>
                <a:spcPts val="400"/>
              </a:spcBef>
              <a:spcAft>
                <a:spcPts val="0"/>
              </a:spcAft>
              <a:buClr>
                <a:schemeClr val="dk1"/>
              </a:buClr>
              <a:buSzPts val="2000"/>
              <a:buChar char="–"/>
            </a:pPr>
            <a:r>
              <a:rPr i="1" lang="en-US" sz="2000"/>
              <a:t>Aggregation</a:t>
            </a:r>
            <a:r>
              <a:rPr lang="en-US" sz="2000"/>
              <a:t> can occur when a class is a collection or container of other classes</a:t>
            </a:r>
            <a:endParaRPr/>
          </a:p>
          <a:p>
            <a:pPr indent="-285750" lvl="1" marL="742950" rtl="0" algn="l">
              <a:lnSpc>
                <a:spcPct val="100000"/>
              </a:lnSpc>
              <a:spcBef>
                <a:spcPts val="400"/>
              </a:spcBef>
              <a:spcAft>
                <a:spcPts val="0"/>
              </a:spcAft>
              <a:buClr>
                <a:schemeClr val="dk1"/>
              </a:buClr>
              <a:buSzPts val="2000"/>
              <a:buChar char="–"/>
            </a:pPr>
            <a:r>
              <a:rPr lang="en-US" sz="2000"/>
              <a:t>However, the contained classes do not have a strong </a:t>
            </a:r>
            <a:r>
              <a:rPr i="1" lang="en-US" sz="2000"/>
              <a:t>lifecycle dependency</a:t>
            </a:r>
            <a:r>
              <a:rPr lang="en-US" sz="2000"/>
              <a:t> on the container.</a:t>
            </a:r>
            <a:endParaRPr/>
          </a:p>
          <a:p>
            <a:pPr indent="-285750" lvl="1" marL="742950" rtl="0" algn="l">
              <a:lnSpc>
                <a:spcPct val="100000"/>
              </a:lnSpc>
              <a:spcBef>
                <a:spcPts val="400"/>
              </a:spcBef>
              <a:spcAft>
                <a:spcPts val="0"/>
              </a:spcAft>
              <a:buClr>
                <a:schemeClr val="dk1"/>
              </a:buClr>
              <a:buSzPts val="2000"/>
              <a:buChar char="–"/>
            </a:pPr>
            <a:r>
              <a:rPr lang="en-US" sz="2000"/>
              <a:t>The contents of the container are not automatically destroyed when the container is.</a:t>
            </a:r>
            <a:endParaRPr/>
          </a:p>
          <a:p>
            <a:pPr indent="-285750" lvl="1" marL="742950" rtl="0" algn="l">
              <a:lnSpc>
                <a:spcPct val="100000"/>
              </a:lnSpc>
              <a:spcBef>
                <a:spcPts val="400"/>
              </a:spcBef>
              <a:spcAft>
                <a:spcPts val="0"/>
              </a:spcAft>
              <a:buClr>
                <a:schemeClr val="dk1"/>
              </a:buClr>
              <a:buSzPts val="2000"/>
              <a:buChar char="–"/>
            </a:pPr>
            <a:r>
              <a:rPr lang="en-US" sz="2000"/>
              <a:t>In UML, it is graphically represented as a </a:t>
            </a:r>
            <a:r>
              <a:rPr i="1" lang="en-US" sz="2000"/>
              <a:t>hollow</a:t>
            </a:r>
            <a:r>
              <a:rPr lang="en-US" sz="2000"/>
              <a:t> diamond shape on the containing class with a single line that connects it to the contained class</a:t>
            </a:r>
            <a:endParaRPr/>
          </a:p>
          <a:p>
            <a:pPr indent="-158750" lvl="1" marL="742950" rtl="0" algn="l">
              <a:lnSpc>
                <a:spcPct val="100000"/>
              </a:lnSpc>
              <a:spcBef>
                <a:spcPts val="400"/>
              </a:spcBef>
              <a:spcAft>
                <a:spcPts val="0"/>
              </a:spcAft>
              <a:buClr>
                <a:schemeClr val="dk1"/>
              </a:buClr>
              <a:buSzPts val="2000"/>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3"/>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Font typeface="Calibri"/>
              <a:buNone/>
            </a:pPr>
            <a:r>
              <a:rPr lang="en-US" sz="2800"/>
              <a:t>Composition</a:t>
            </a:r>
            <a:endParaRPr sz="2800"/>
          </a:p>
        </p:txBody>
      </p:sp>
      <p:sp>
        <p:nvSpPr>
          <p:cNvPr id="160" name="Google Shape;160;p13"/>
          <p:cNvSpPr txBox="1"/>
          <p:nvPr>
            <p:ph idx="1" type="body"/>
          </p:nvPr>
        </p:nvSpPr>
        <p:spPr>
          <a:xfrm>
            <a:off x="457200" y="990600"/>
            <a:ext cx="8382000" cy="54864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i="1" lang="en-US" sz="2000" u="sng"/>
              <a:t>Composition</a:t>
            </a:r>
            <a:r>
              <a:rPr lang="en-US" sz="2000"/>
              <a:t> is a stronger variant of the "has a" association relationship; composition is more specific than aggregation.</a:t>
            </a:r>
            <a:endParaRPr/>
          </a:p>
          <a:p>
            <a:pPr indent="-342900" lvl="0" marL="342900" rtl="0" algn="just">
              <a:lnSpc>
                <a:spcPct val="100000"/>
              </a:lnSpc>
              <a:spcBef>
                <a:spcPts val="400"/>
              </a:spcBef>
              <a:spcAft>
                <a:spcPts val="0"/>
              </a:spcAft>
              <a:buClr>
                <a:schemeClr val="dk1"/>
              </a:buClr>
              <a:buSzPts val="2000"/>
              <a:buChar char="•"/>
            </a:pPr>
            <a:r>
              <a:rPr i="1" lang="en-US" sz="2000"/>
              <a:t>Composition</a:t>
            </a:r>
            <a:r>
              <a:rPr lang="en-US" sz="2000"/>
              <a:t> usually has a strong </a:t>
            </a:r>
            <a:r>
              <a:rPr i="1" lang="en-US" sz="2000"/>
              <a:t>lifecycle dependency</a:t>
            </a:r>
            <a:r>
              <a:rPr lang="en-US" sz="2000"/>
              <a:t> between instances of the container class and instances of the contained class</a:t>
            </a:r>
            <a:endParaRPr/>
          </a:p>
          <a:p>
            <a:pPr indent="-342900" lvl="0" marL="342900" rtl="0" algn="just">
              <a:lnSpc>
                <a:spcPct val="100000"/>
              </a:lnSpc>
              <a:spcBef>
                <a:spcPts val="400"/>
              </a:spcBef>
              <a:spcAft>
                <a:spcPts val="0"/>
              </a:spcAft>
              <a:buClr>
                <a:schemeClr val="dk1"/>
              </a:buClr>
              <a:buSzPts val="2000"/>
              <a:buChar char="•"/>
            </a:pPr>
            <a:r>
              <a:rPr lang="en-US" sz="2000"/>
              <a:t>If the container is destroyed, normally every instance that it contains is destroyed as well</a:t>
            </a:r>
            <a:endParaRPr/>
          </a:p>
          <a:p>
            <a:pPr indent="-342900" lvl="0" marL="342900" rtl="0" algn="just">
              <a:lnSpc>
                <a:spcPct val="100000"/>
              </a:lnSpc>
              <a:spcBef>
                <a:spcPts val="400"/>
              </a:spcBef>
              <a:spcAft>
                <a:spcPts val="0"/>
              </a:spcAft>
              <a:buClr>
                <a:schemeClr val="dk1"/>
              </a:buClr>
              <a:buSzPts val="2000"/>
              <a:buChar char="•"/>
            </a:pPr>
            <a:r>
              <a:rPr lang="en-US" sz="2000"/>
              <a:t>The UML graphical representation of a composition relationship is a </a:t>
            </a:r>
            <a:r>
              <a:rPr i="1" lang="en-US" sz="2000"/>
              <a:t>filled</a:t>
            </a:r>
            <a:r>
              <a:rPr lang="en-US" sz="2000"/>
              <a:t> diamond shape on the containing class.</a:t>
            </a:r>
            <a:endParaRPr/>
          </a:p>
          <a:p>
            <a:pPr indent="-190500" lvl="0" marL="342900" rtl="0" algn="just">
              <a:lnSpc>
                <a:spcPct val="100000"/>
              </a:lnSpc>
              <a:spcBef>
                <a:spcPts val="480"/>
              </a:spcBef>
              <a:spcAft>
                <a:spcPts val="0"/>
              </a:spcAft>
              <a:buClr>
                <a:schemeClr val="dk1"/>
              </a:buClr>
              <a:buSzPts val="2400"/>
              <a:buNone/>
            </a:pPr>
            <a:r>
              <a:t/>
            </a:r>
            <a:endParaRPr sz="2400"/>
          </a:p>
        </p:txBody>
      </p:sp>
      <p:pic>
        <p:nvPicPr>
          <p:cNvPr descr="http://upload.wikimedia.org/wikipedia/en/thumb/9/9f/AggregationAndComposition.svg/220px-AggregationAndComposition.svg.png" id="161" name="Google Shape;161;p13">
            <a:hlinkClick r:id="rId3"/>
          </p:cNvPr>
          <p:cNvPicPr preferRelativeResize="0"/>
          <p:nvPr/>
        </p:nvPicPr>
        <p:blipFill rotWithShape="1">
          <a:blip r:embed="rId4">
            <a:alphaModFix/>
          </a:blip>
          <a:srcRect b="0" l="0" r="0" t="0"/>
          <a:stretch/>
        </p:blipFill>
        <p:spPr>
          <a:xfrm>
            <a:off x="1981200" y="4038600"/>
            <a:ext cx="5257800" cy="16617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alibri"/>
              <a:buNone/>
            </a:pPr>
            <a:r>
              <a:t/>
            </a:r>
            <a:endParaRPr sz="2800"/>
          </a:p>
        </p:txBody>
      </p:sp>
      <p:sp>
        <p:nvSpPr>
          <p:cNvPr id="167" name="Google Shape;167;p14"/>
          <p:cNvSpPr txBox="1"/>
          <p:nvPr>
            <p:ph idx="1" type="body"/>
          </p:nvPr>
        </p:nvSpPr>
        <p:spPr>
          <a:xfrm>
            <a:off x="457200" y="990600"/>
            <a:ext cx="8229600" cy="54864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100000"/>
              <a:buChar char="•"/>
            </a:pPr>
            <a:r>
              <a:rPr lang="en-US" sz="2400"/>
              <a:t>The above relationships are read as follows:</a:t>
            </a:r>
            <a:endParaRPr/>
          </a:p>
          <a:p>
            <a:pPr indent="-285750" lvl="1" marL="742950" rtl="0" algn="l">
              <a:lnSpc>
                <a:spcPct val="100000"/>
              </a:lnSpc>
              <a:spcBef>
                <a:spcPts val="370"/>
              </a:spcBef>
              <a:spcAft>
                <a:spcPts val="0"/>
              </a:spcAft>
              <a:buClr>
                <a:schemeClr val="dk1"/>
              </a:buClr>
              <a:buSzPct val="100000"/>
              <a:buChar char="–"/>
            </a:pPr>
            <a:r>
              <a:rPr lang="en-US" sz="2000"/>
              <a:t>Dependency : class A uses class B</a:t>
            </a:r>
            <a:endParaRPr/>
          </a:p>
          <a:p>
            <a:pPr indent="-285750" lvl="1" marL="742950" rtl="0" algn="l">
              <a:lnSpc>
                <a:spcPct val="100000"/>
              </a:lnSpc>
              <a:spcBef>
                <a:spcPts val="370"/>
              </a:spcBef>
              <a:spcAft>
                <a:spcPts val="0"/>
              </a:spcAft>
              <a:buClr>
                <a:schemeClr val="dk1"/>
              </a:buClr>
              <a:buSzPct val="100000"/>
              <a:buChar char="–"/>
            </a:pPr>
            <a:r>
              <a:rPr lang="en-US" sz="2000"/>
              <a:t>Aggregation : class A has a class B</a:t>
            </a:r>
            <a:endParaRPr/>
          </a:p>
          <a:p>
            <a:pPr indent="-285750" lvl="1" marL="742950" rtl="0" algn="l">
              <a:lnSpc>
                <a:spcPct val="100000"/>
              </a:lnSpc>
              <a:spcBef>
                <a:spcPts val="370"/>
              </a:spcBef>
              <a:spcAft>
                <a:spcPts val="0"/>
              </a:spcAft>
              <a:buClr>
                <a:schemeClr val="dk1"/>
              </a:buClr>
              <a:buSzPct val="100000"/>
              <a:buChar char="–"/>
            </a:pPr>
            <a:r>
              <a:rPr lang="en-US" sz="2000"/>
              <a:t>Composition : class A owns a class B</a:t>
            </a:r>
            <a:endParaRPr/>
          </a:p>
          <a:p>
            <a:pPr indent="-285750" lvl="1" marL="742950" rtl="0" algn="l">
              <a:lnSpc>
                <a:spcPct val="100000"/>
              </a:lnSpc>
              <a:spcBef>
                <a:spcPts val="370"/>
              </a:spcBef>
              <a:spcAft>
                <a:spcPts val="0"/>
              </a:spcAft>
              <a:buClr>
                <a:schemeClr val="dk1"/>
              </a:buClr>
              <a:buSzPct val="100000"/>
              <a:buChar char="–"/>
            </a:pPr>
            <a:r>
              <a:rPr lang="en-US" sz="2000"/>
              <a:t>Inheritance : class B is a Class A  (or class A is extended by class B)</a:t>
            </a:r>
            <a:endParaRPr/>
          </a:p>
          <a:p>
            <a:pPr indent="-285750" lvl="1" marL="742950" rtl="0" algn="l">
              <a:lnSpc>
                <a:spcPct val="100000"/>
              </a:lnSpc>
              <a:spcBef>
                <a:spcPts val="370"/>
              </a:spcBef>
              <a:spcAft>
                <a:spcPts val="0"/>
              </a:spcAft>
              <a:buClr>
                <a:schemeClr val="dk1"/>
              </a:buClr>
              <a:buSzPct val="100000"/>
              <a:buChar char="–"/>
            </a:pPr>
            <a:r>
              <a:rPr lang="en-US" sz="2000"/>
              <a:t>Realization : class B realizes Class A (or class A is realized by class B)</a:t>
            </a:r>
            <a:endParaRPr/>
          </a:p>
          <a:p>
            <a:pPr indent="-342900" lvl="0" marL="342900" rtl="0" algn="l">
              <a:lnSpc>
                <a:spcPct val="100000"/>
              </a:lnSpc>
              <a:spcBef>
                <a:spcPts val="444"/>
              </a:spcBef>
              <a:spcAft>
                <a:spcPts val="0"/>
              </a:spcAft>
              <a:buClr>
                <a:schemeClr val="dk1"/>
              </a:buClr>
              <a:buSzPct val="100000"/>
              <a:buNone/>
            </a:pPr>
            <a:r>
              <a:rPr lang="en-US" sz="2400" u="sng">
                <a:solidFill>
                  <a:schemeClr val="hlink"/>
                </a:solidFill>
                <a:hlinkClick r:id="rId3"/>
              </a:rPr>
              <a:t>RELATIONSHIPS</a:t>
            </a:r>
            <a:r>
              <a:rPr lang="en-US" sz="2400"/>
              <a:t> </a:t>
            </a:r>
            <a:r>
              <a:rPr i="1" lang="en-US" sz="2400"/>
              <a:t>Composition</a:t>
            </a:r>
            <a:endParaRPr/>
          </a:p>
          <a:p>
            <a:pPr indent="-342900" lvl="0" marL="342900" rtl="0" algn="just">
              <a:lnSpc>
                <a:spcPct val="100000"/>
              </a:lnSpc>
              <a:spcBef>
                <a:spcPts val="444"/>
              </a:spcBef>
              <a:spcAft>
                <a:spcPts val="0"/>
              </a:spcAft>
              <a:buClr>
                <a:schemeClr val="dk1"/>
              </a:buClr>
              <a:buSzPct val="100000"/>
              <a:buNone/>
            </a:pPr>
            <a:r>
              <a:rPr lang="en-US" sz="2400"/>
              <a:t>is very similar to the aggregation relationship, with the only difference being its key purpose of emphasizing the dependence of the contained class to the life cycle of the container class. That is, the contained class will be obliterate (destroy) when the container class is destroyed. For example, a shoulder bag’s side pocket will also cease to exist once the shoulder bag is destroyed. To depict a composition relationship in a UML diagram, use a directional line connecting the two classes, with a filled diamond shape adjacent to the container class and the directional arrow to the contained class.</a:t>
            </a:r>
            <a:endParaRPr/>
          </a:p>
          <a:p>
            <a:pPr indent="-342900" lvl="0" marL="342900" rtl="0" algn="l">
              <a:lnSpc>
                <a:spcPct val="100000"/>
              </a:lnSpc>
              <a:spcBef>
                <a:spcPts val="444"/>
              </a:spcBef>
              <a:spcAft>
                <a:spcPts val="0"/>
              </a:spcAft>
              <a:buClr>
                <a:schemeClr val="dk1"/>
              </a:buClr>
              <a:buSzPct val="100000"/>
              <a:buNone/>
            </a:pPr>
            <a:r>
              <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457200" y="274638"/>
            <a:ext cx="8229600" cy="6397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alibri"/>
              <a:buNone/>
            </a:pPr>
            <a:r>
              <a:rPr lang="en-US" sz="2800"/>
              <a:t>Identify Relationships</a:t>
            </a:r>
            <a:endParaRPr sz="2800"/>
          </a:p>
        </p:txBody>
      </p:sp>
      <p:sp>
        <p:nvSpPr>
          <p:cNvPr id="173" name="Google Shape;173;p15"/>
          <p:cNvSpPr txBox="1"/>
          <p:nvPr>
            <p:ph idx="1" type="body"/>
          </p:nvPr>
        </p:nvSpPr>
        <p:spPr>
          <a:xfrm>
            <a:off x="457200" y="1066800"/>
            <a:ext cx="8229600" cy="50593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None/>
            </a:pPr>
            <a:r>
              <a:rPr lang="en-US"/>
              <a:t>Person --🡪 Mobile</a:t>
            </a:r>
            <a:endParaRPr/>
          </a:p>
          <a:p>
            <a:pPr indent="-342900" lvl="0" marL="342900" rtl="0" algn="l">
              <a:lnSpc>
                <a:spcPct val="100000"/>
              </a:lnSpc>
              <a:spcBef>
                <a:spcPts val="640"/>
              </a:spcBef>
              <a:spcAft>
                <a:spcPts val="0"/>
              </a:spcAft>
              <a:buClr>
                <a:schemeClr val="dk1"/>
              </a:buClr>
              <a:buSzPts val="3200"/>
              <a:buNone/>
            </a:pPr>
            <a:r>
              <a:rPr lang="en-US"/>
              <a:t>Mobile -🡪 Sim</a:t>
            </a:r>
            <a:endParaRPr/>
          </a:p>
          <a:p>
            <a:pPr indent="-342900" lvl="0" marL="342900" rtl="0" algn="l">
              <a:lnSpc>
                <a:spcPct val="100000"/>
              </a:lnSpc>
              <a:spcBef>
                <a:spcPts val="640"/>
              </a:spcBef>
              <a:spcAft>
                <a:spcPts val="0"/>
              </a:spcAft>
              <a:buClr>
                <a:schemeClr val="dk1"/>
              </a:buClr>
              <a:buSzPts val="3200"/>
              <a:buNone/>
            </a:pPr>
            <a:r>
              <a:rPr lang="en-US"/>
              <a:t>CellPhone 🡪 Processor</a:t>
            </a:r>
            <a:endParaRPr/>
          </a:p>
          <a:p>
            <a:pPr indent="-342900" lvl="0" marL="342900" rtl="0" algn="l">
              <a:lnSpc>
                <a:spcPct val="100000"/>
              </a:lnSpc>
              <a:spcBef>
                <a:spcPts val="640"/>
              </a:spcBef>
              <a:spcAft>
                <a:spcPts val="0"/>
              </a:spcAft>
              <a:buClr>
                <a:schemeClr val="dk1"/>
              </a:buClr>
              <a:buSzPts val="3200"/>
              <a:buNone/>
            </a:pPr>
            <a:r>
              <a:rPr lang="en-US"/>
              <a:t>Car🡪 CarEngine</a:t>
            </a:r>
            <a:endParaRPr/>
          </a:p>
          <a:p>
            <a:pPr indent="-342900" lvl="0" marL="342900" rtl="0" algn="l">
              <a:lnSpc>
                <a:spcPct val="100000"/>
              </a:lnSpc>
              <a:spcBef>
                <a:spcPts val="640"/>
              </a:spcBef>
              <a:spcAft>
                <a:spcPts val="0"/>
              </a:spcAft>
              <a:buClr>
                <a:schemeClr val="dk1"/>
              </a:buClr>
              <a:buSzPts val="3200"/>
              <a:buNone/>
            </a:pPr>
            <a:r>
              <a:rPr lang="en-US"/>
              <a:t>Student 🡪 Course</a:t>
            </a:r>
            <a:endParaRPr/>
          </a:p>
          <a:p>
            <a:pPr indent="-342900" lvl="0" marL="342900" rtl="0" algn="l">
              <a:lnSpc>
                <a:spcPct val="100000"/>
              </a:lnSpc>
              <a:spcBef>
                <a:spcPts val="640"/>
              </a:spcBef>
              <a:spcAft>
                <a:spcPts val="0"/>
              </a:spcAft>
              <a:buClr>
                <a:schemeClr val="dk1"/>
              </a:buClr>
              <a:buSzPts val="3200"/>
              <a:buNone/>
            </a:pPr>
            <a:r>
              <a:rPr lang="en-US"/>
              <a:t>CellPhone 🡪 RearCamera</a:t>
            </a:r>
            <a:endParaRPr/>
          </a:p>
          <a:p>
            <a:pPr indent="-342900" lvl="0" marL="342900" rtl="0" algn="l">
              <a:lnSpc>
                <a:spcPct val="100000"/>
              </a:lnSpc>
              <a:spcBef>
                <a:spcPts val="640"/>
              </a:spcBef>
              <a:spcAft>
                <a:spcPts val="0"/>
              </a:spcAft>
              <a:buClr>
                <a:schemeClr val="dk1"/>
              </a:buClr>
              <a:buSzPts val="3200"/>
              <a:buNone/>
            </a:pPr>
            <a:r>
              <a:rPr lang="en-US"/>
              <a:t>CellPhone 🡪 Memory</a:t>
            </a:r>
            <a:endParaRPr/>
          </a:p>
          <a:p>
            <a:pPr indent="-342900" lvl="0" marL="342900" rtl="0" algn="l">
              <a:lnSpc>
                <a:spcPct val="100000"/>
              </a:lnSpc>
              <a:spcBef>
                <a:spcPts val="640"/>
              </a:spcBef>
              <a:spcAft>
                <a:spcPts val="0"/>
              </a:spcAft>
              <a:buClr>
                <a:schemeClr val="dk1"/>
              </a:buClr>
              <a:buSzPts val="3200"/>
              <a:buNone/>
            </a:pPr>
            <a:r>
              <a:rPr lang="en-US"/>
              <a:t>Customer 🡪 BankAccount</a:t>
            </a:r>
            <a:endParaRPr/>
          </a:p>
          <a:p>
            <a:pPr indent="-342900" lvl="0" marL="342900" rtl="0" algn="l">
              <a:lnSpc>
                <a:spcPct val="100000"/>
              </a:lnSpc>
              <a:spcBef>
                <a:spcPts val="640"/>
              </a:spcBef>
              <a:spcAft>
                <a:spcPts val="0"/>
              </a:spcAft>
              <a:buClr>
                <a:schemeClr val="dk1"/>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2015-01-26T03:01:43Z</dcterms:created>
  <dc:creator>kmmr</dc:creator>
</cp:coreProperties>
</file>