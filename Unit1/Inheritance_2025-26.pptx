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0" r:id="rId5"/>
    <p:sldId id="261" r:id="rId6"/>
    <p:sldId id="265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209EE-06E8-4A39-86AA-254846C848A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B948E-344B-4459-AEEB-B68BBF4114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868347"/>
          </a:xfrm>
        </p:spPr>
        <p:txBody>
          <a:bodyPr/>
          <a:lstStyle/>
          <a:p>
            <a:r>
              <a:rPr lang="en-US" dirty="0" smtClean="0"/>
              <a:t>Chapter 3: Inheritance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Characteristics of Object-Oriented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953000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Inheritance </a:t>
            </a:r>
            <a:r>
              <a:rPr lang="en-IN" dirty="0" smtClean="0"/>
              <a:t>and Reusability</a:t>
            </a: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5992"/>
            <a:ext cx="3676648" cy="4117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14554"/>
            <a:ext cx="4071966" cy="4168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134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8259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Student administration world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9900" dirty="0" smtClean="0"/>
              <a:t>				 </a:t>
            </a:r>
            <a:r>
              <a:rPr lang="en-US" sz="19900" dirty="0" smtClean="0">
                <a:solidFill>
                  <a:srgbClr val="00B050"/>
                </a:solidFill>
              </a:rPr>
              <a:t>?</a:t>
            </a:r>
            <a:endParaRPr lang="en-US" sz="34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5403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Student Administration world: OO - World	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10"/>
            <a:ext cx="8229600" cy="512605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Person </a:t>
            </a:r>
            <a:r>
              <a:rPr lang="en-US" sz="2400" dirty="0" smtClean="0"/>
              <a:t>( </a:t>
            </a:r>
            <a:r>
              <a:rPr lang="en-US" sz="2400" dirty="0" err="1" smtClean="0"/>
              <a:t>firstName</a:t>
            </a:r>
            <a:r>
              <a:rPr lang="en-US" sz="2400" dirty="0" smtClean="0"/>
              <a:t>, </a:t>
            </a:r>
            <a:r>
              <a:rPr lang="en-US" sz="2400" dirty="0" err="1" smtClean="0"/>
              <a:t>lastName</a:t>
            </a:r>
            <a:r>
              <a:rPr lang="en-US" sz="2400" dirty="0" smtClean="0"/>
              <a:t>)</a:t>
            </a:r>
            <a:endParaRPr lang="en-US" sz="2400" dirty="0" smtClean="0"/>
          </a:p>
          <a:p>
            <a:r>
              <a:rPr lang="en-US" sz="2400" dirty="0" smtClean="0"/>
              <a:t>Teacher -&gt;    what are properties?</a:t>
            </a:r>
          </a:p>
          <a:p>
            <a:r>
              <a:rPr lang="en-US" sz="2400" dirty="0" smtClean="0"/>
              <a:t>Student -&gt;    what are properties?</a:t>
            </a:r>
          </a:p>
          <a:p>
            <a:r>
              <a:rPr lang="en-US" sz="2400" dirty="0" smtClean="0"/>
              <a:t>Course (</a:t>
            </a:r>
            <a:r>
              <a:rPr lang="en-US" sz="2400" dirty="0" err="1" smtClean="0"/>
              <a:t>courseCode</a:t>
            </a:r>
            <a:r>
              <a:rPr lang="en-US" sz="2400" dirty="0" smtClean="0"/>
              <a:t>, </a:t>
            </a:r>
            <a:r>
              <a:rPr lang="en-US" sz="2400" dirty="0" err="1" smtClean="0"/>
              <a:t>courseTitle</a:t>
            </a:r>
            <a:r>
              <a:rPr lang="en-US" sz="2400" dirty="0" smtClean="0"/>
              <a:t>, </a:t>
            </a:r>
            <a:r>
              <a:rPr lang="en-US" sz="2400" dirty="0" smtClean="0"/>
              <a:t>grade, isa1,isa2,activity)</a:t>
            </a:r>
            <a:endParaRPr lang="en-US" sz="2400" dirty="0" smtClean="0"/>
          </a:p>
          <a:p>
            <a:r>
              <a:rPr lang="en-US" sz="2400" i="1" dirty="0" smtClean="0"/>
              <a:t>How </a:t>
            </a:r>
            <a:r>
              <a:rPr lang="en-US" sz="2400" i="1" dirty="0" smtClean="0"/>
              <a:t>these classes can be organized?</a:t>
            </a:r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500430" y="3786191"/>
            <a:ext cx="2643206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Person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2976" y="5072075"/>
            <a:ext cx="2643206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Teacher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15008" y="5072075"/>
            <a:ext cx="2643206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Student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rot="5400000" flipH="1" flipV="1">
            <a:off x="3356760" y="4786322"/>
            <a:ext cx="572299" cy="794"/>
          </a:xfrm>
          <a:prstGeom prst="straightConnector1">
            <a:avLst/>
          </a:prstGeom>
          <a:ln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5643570" y="4786322"/>
            <a:ext cx="572299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5403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Student </a:t>
            </a:r>
            <a:r>
              <a:rPr lang="en-US" sz="2800" b="1" i="1" dirty="0" smtClean="0"/>
              <a:t>enroll</a:t>
            </a:r>
            <a:r>
              <a:rPr lang="en-US" sz="2800" dirty="0" smtClean="0"/>
              <a:t> for courses and Teacher </a:t>
            </a:r>
            <a:r>
              <a:rPr lang="en-US" sz="2800" b="1" i="1" dirty="0" smtClean="0"/>
              <a:t>teaches</a:t>
            </a:r>
            <a:r>
              <a:rPr lang="en-US" sz="2800" dirty="0" smtClean="0"/>
              <a:t> courses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10"/>
            <a:ext cx="8229600" cy="5126055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2000232" y="1571611"/>
            <a:ext cx="5572164" cy="3357587"/>
            <a:chOff x="1928794" y="1571612"/>
            <a:chExt cx="5572164" cy="3357586"/>
          </a:xfrm>
        </p:grpSpPr>
        <p:sp>
          <p:nvSpPr>
            <p:cNvPr id="10" name="Rectangle 9"/>
            <p:cNvSpPr/>
            <p:nvPr/>
          </p:nvSpPr>
          <p:spPr>
            <a:xfrm>
              <a:off x="3571868" y="1571612"/>
              <a:ext cx="221457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Person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6380" y="2714620"/>
              <a:ext cx="221457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Student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28794" y="2714620"/>
              <a:ext cx="221457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Teacher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72066" y="4286256"/>
              <a:ext cx="2428892" cy="6429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Course</a:t>
              </a:r>
              <a:endParaRPr lang="en-US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rot="5400000" flipH="1" flipV="1">
              <a:off x="3464711" y="2393149"/>
              <a:ext cx="6429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5250661" y="2393149"/>
              <a:ext cx="6429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lowchart: Decision 18"/>
            <p:cNvSpPr/>
            <p:nvPr/>
          </p:nvSpPr>
          <p:spPr>
            <a:xfrm>
              <a:off x="6143636" y="3214686"/>
              <a:ext cx="285752" cy="357190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>
              <a:stCxn id="13" idx="0"/>
              <a:endCxn id="19" idx="2"/>
            </p:cNvCxnSpPr>
            <p:nvPr/>
          </p:nvCxnSpPr>
          <p:spPr>
            <a:xfrm rot="5400000" flipH="1" flipV="1">
              <a:off x="5929322" y="3929066"/>
              <a:ext cx="71438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3" idx="1"/>
            </p:cNvCxnSpPr>
            <p:nvPr/>
          </p:nvCxnSpPr>
          <p:spPr>
            <a:xfrm rot="10800000" flipV="1">
              <a:off x="2928926" y="4607726"/>
              <a:ext cx="2143140" cy="35719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/>
          <p:cNvCxnSpPr/>
          <p:nvPr/>
        </p:nvCxnSpPr>
        <p:spPr>
          <a:xfrm flipV="1">
            <a:off x="3000363" y="3214685"/>
            <a:ext cx="0" cy="1428761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76672"/>
            <a:ext cx="8208912" cy="604867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5403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/>
              <a:t>Scenario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10"/>
            <a:ext cx="8229600" cy="5126055"/>
          </a:xfrm>
        </p:spPr>
        <p:txBody>
          <a:bodyPr>
            <a:normAutofit/>
          </a:bodyPr>
          <a:lstStyle/>
          <a:p>
            <a:pPr algn="just"/>
            <a:r>
              <a:rPr lang="en-US" sz="2400" i="1" dirty="0" smtClean="0"/>
              <a:t>Consider the </a:t>
            </a:r>
            <a:r>
              <a:rPr lang="en-US" sz="2400" b="1" i="1" dirty="0" smtClean="0"/>
              <a:t>Bank Account </a:t>
            </a:r>
            <a:r>
              <a:rPr lang="en-US" sz="2400" i="1" dirty="0" smtClean="0"/>
              <a:t>of type </a:t>
            </a:r>
            <a:r>
              <a:rPr lang="en-US" sz="2400" b="1" i="1" dirty="0" smtClean="0"/>
              <a:t>Savings account</a:t>
            </a:r>
            <a:r>
              <a:rPr lang="en-US" sz="2400" i="1" dirty="0" smtClean="0"/>
              <a:t>, </a:t>
            </a:r>
            <a:r>
              <a:rPr lang="en-US" sz="2400" b="1" i="1" dirty="0" smtClean="0"/>
              <a:t>current account </a:t>
            </a:r>
            <a:r>
              <a:rPr lang="en-US" sz="2400" i="1" dirty="0" smtClean="0"/>
              <a:t>and money can be </a:t>
            </a:r>
            <a:r>
              <a:rPr lang="en-US" sz="2400" b="1" i="1" dirty="0" smtClean="0"/>
              <a:t>debited</a:t>
            </a:r>
            <a:r>
              <a:rPr lang="en-US" sz="2400" i="1" dirty="0" smtClean="0"/>
              <a:t> or </a:t>
            </a:r>
            <a:r>
              <a:rPr lang="en-US" sz="2400" b="1" i="1" dirty="0" smtClean="0"/>
              <a:t>credited</a:t>
            </a:r>
            <a:r>
              <a:rPr lang="en-US" sz="2400" i="1" dirty="0" smtClean="0"/>
              <a:t> to  bank accounts. The </a:t>
            </a:r>
            <a:r>
              <a:rPr lang="en-US" sz="2400" b="1" i="1" dirty="0" smtClean="0"/>
              <a:t>number of transactions </a:t>
            </a:r>
            <a:r>
              <a:rPr lang="en-US" sz="2400" i="1" dirty="0" smtClean="0"/>
              <a:t>is limited to </a:t>
            </a:r>
            <a:r>
              <a:rPr lang="en-US" sz="2400" b="1" i="1" dirty="0" smtClean="0"/>
              <a:t>5 </a:t>
            </a:r>
            <a:r>
              <a:rPr lang="en-US" sz="2400" i="1" dirty="0" smtClean="0"/>
              <a:t>on the savings accounts, if it exceeds a </a:t>
            </a:r>
            <a:r>
              <a:rPr lang="en-US" sz="2400" b="1" i="1" dirty="0" smtClean="0"/>
              <a:t>penalty </a:t>
            </a:r>
            <a:r>
              <a:rPr lang="en-US" sz="2400" i="1" dirty="0" smtClean="0"/>
              <a:t>has to be </a:t>
            </a:r>
            <a:r>
              <a:rPr lang="en-US" sz="2400" b="1" i="1" dirty="0" smtClean="0"/>
              <a:t>imposed</a:t>
            </a:r>
            <a:r>
              <a:rPr lang="en-US" sz="2400" i="1" dirty="0" smtClean="0"/>
              <a:t> and 	the penalty amount has to be </a:t>
            </a:r>
            <a:r>
              <a:rPr lang="en-US" sz="2400" b="1" i="1" dirty="0" smtClean="0"/>
              <a:t>automatically debited </a:t>
            </a:r>
            <a:r>
              <a:rPr lang="en-US" sz="2400" i="1" dirty="0" smtClean="0"/>
              <a:t>from account. The details of the bank accounts shall be p</a:t>
            </a:r>
            <a:r>
              <a:rPr lang="en-US" sz="2400" b="1" i="1" dirty="0" smtClean="0"/>
              <a:t>rinted</a:t>
            </a:r>
            <a:r>
              <a:rPr lang="en-US" sz="2400" i="1" dirty="0" smtClean="0"/>
              <a:t>. </a:t>
            </a:r>
            <a:r>
              <a:rPr lang="en-US" sz="2400" b="1" i="1" dirty="0" smtClean="0"/>
              <a:t>Identify base class </a:t>
            </a:r>
            <a:r>
              <a:rPr lang="en-US" sz="2400" i="1" dirty="0" smtClean="0"/>
              <a:t>and </a:t>
            </a:r>
            <a:r>
              <a:rPr lang="en-US" sz="2400" b="1" i="1" dirty="0" smtClean="0"/>
              <a:t>derived classes</a:t>
            </a:r>
            <a:r>
              <a:rPr lang="en-US" sz="2400" i="1" dirty="0" smtClean="0"/>
              <a:t>, </a:t>
            </a:r>
            <a:r>
              <a:rPr lang="en-US" sz="2400" b="1" i="1" dirty="0" smtClean="0"/>
              <a:t>attributes</a:t>
            </a:r>
            <a:r>
              <a:rPr lang="en-US" sz="2400" i="1" dirty="0" smtClean="0"/>
              <a:t> and </a:t>
            </a:r>
            <a:r>
              <a:rPr lang="en-US" sz="2400" b="1" i="1" dirty="0" smtClean="0"/>
              <a:t>functions</a:t>
            </a:r>
            <a:r>
              <a:rPr lang="en-US" sz="2400" i="1" dirty="0" smtClean="0"/>
              <a:t> in a </a:t>
            </a:r>
            <a:r>
              <a:rPr lang="en-US" sz="2400" b="1" i="1" dirty="0" smtClean="0"/>
              <a:t>class</a:t>
            </a:r>
            <a:r>
              <a:rPr lang="en-US" sz="2400" i="1" dirty="0" smtClean="0"/>
              <a:t> </a:t>
            </a:r>
            <a:r>
              <a:rPr lang="en-US" sz="2400" b="1" i="1" dirty="0" smtClean="0"/>
              <a:t>hierarchy.</a:t>
            </a:r>
            <a:r>
              <a:rPr lang="en-US" sz="2400" i="1" dirty="0" smtClean="0"/>
              <a:t> Write 	a </a:t>
            </a:r>
            <a:r>
              <a:rPr lang="en-US" sz="2400" b="1" i="1" dirty="0" smtClean="0"/>
              <a:t>class diagram </a:t>
            </a:r>
            <a:r>
              <a:rPr lang="en-US" sz="2400" i="1" dirty="0" smtClean="0"/>
              <a:t>and </a:t>
            </a:r>
            <a:r>
              <a:rPr lang="en-US" sz="2400" b="1" i="1" dirty="0" smtClean="0"/>
              <a:t>CPP</a:t>
            </a:r>
            <a:r>
              <a:rPr lang="en-US" sz="2400" i="1" dirty="0" smtClean="0"/>
              <a:t> program to simulate the scenario.</a:t>
            </a:r>
            <a:endParaRPr lang="en-IN" sz="2400" i="1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5403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/>
              <a:t>List of objects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500726"/>
          </a:xfrm>
        </p:spPr>
        <p:txBody>
          <a:bodyPr>
            <a:normAutofit lnSpcReduction="10000"/>
          </a:bodyPr>
          <a:lstStyle/>
          <a:p>
            <a:r>
              <a:rPr lang="en-US" sz="2400" i="1" dirty="0" err="1" smtClean="0"/>
              <a:t>BankAccount</a:t>
            </a:r>
            <a:endParaRPr lang="en-US" sz="2400" i="1" dirty="0" smtClean="0"/>
          </a:p>
          <a:p>
            <a:r>
              <a:rPr lang="en-US" sz="2400" i="1" dirty="0" err="1" smtClean="0"/>
              <a:t>SavingsAccount</a:t>
            </a:r>
            <a:r>
              <a:rPr lang="en-US" sz="2400" dirty="0" smtClean="0"/>
              <a:t> (interest paid)</a:t>
            </a:r>
          </a:p>
          <a:p>
            <a:r>
              <a:rPr lang="en-US" sz="2400" i="1" dirty="0" err="1" smtClean="0"/>
              <a:t>CurrentAccount</a:t>
            </a:r>
            <a:r>
              <a:rPr lang="en-US" sz="2400" i="1" dirty="0" smtClean="0"/>
              <a:t> </a:t>
            </a:r>
            <a:r>
              <a:rPr lang="en-US" sz="2400" dirty="0" smtClean="0"/>
              <a:t>(no interest, no penalty, any number of transactions)</a:t>
            </a:r>
          </a:p>
          <a:p>
            <a:r>
              <a:rPr lang="en-US" sz="2400" b="1" i="1" dirty="0" smtClean="0"/>
              <a:t>Data members:</a:t>
            </a:r>
          </a:p>
          <a:p>
            <a:pPr lvl="1"/>
            <a:r>
              <a:rPr lang="en-US" sz="2000" dirty="0" smtClean="0"/>
              <a:t>Account number</a:t>
            </a:r>
          </a:p>
          <a:p>
            <a:pPr lvl="1"/>
            <a:r>
              <a:rPr lang="en-US" sz="2000" dirty="0" smtClean="0"/>
              <a:t>Account balance</a:t>
            </a:r>
            <a:endParaRPr lang="en-US" sz="2000" dirty="0"/>
          </a:p>
          <a:p>
            <a:pPr lvl="1"/>
            <a:r>
              <a:rPr lang="en-US" sz="2000" dirty="0" smtClean="0"/>
              <a:t>Rate of interest</a:t>
            </a:r>
          </a:p>
          <a:p>
            <a:pPr lvl="1"/>
            <a:r>
              <a:rPr lang="en-US" sz="2000" dirty="0" smtClean="0"/>
              <a:t>Penalty amount</a:t>
            </a:r>
          </a:p>
          <a:p>
            <a:pPr lvl="1"/>
            <a:r>
              <a:rPr lang="en-US" sz="2000" dirty="0" smtClean="0"/>
              <a:t>Number of transactions</a:t>
            </a:r>
          </a:p>
          <a:p>
            <a:r>
              <a:rPr lang="en-US" sz="2400" b="1" i="1" dirty="0" smtClean="0"/>
              <a:t>Functions</a:t>
            </a:r>
          </a:p>
          <a:p>
            <a:pPr lvl="1"/>
            <a:r>
              <a:rPr lang="en-US" sz="2000" i="1" dirty="0" err="1" smtClean="0"/>
              <a:t>debitAccount</a:t>
            </a:r>
            <a:r>
              <a:rPr lang="en-US" sz="2000" dirty="0" smtClean="0"/>
              <a:t>(double amt)</a:t>
            </a:r>
          </a:p>
          <a:p>
            <a:pPr lvl="1"/>
            <a:r>
              <a:rPr lang="en-US" sz="2000" i="1" dirty="0" err="1" smtClean="0"/>
              <a:t>creditAccount</a:t>
            </a:r>
            <a:r>
              <a:rPr lang="en-US" sz="2000" dirty="0" smtClean="0"/>
              <a:t>(double amt)</a:t>
            </a:r>
          </a:p>
          <a:p>
            <a:pPr lvl="1"/>
            <a:r>
              <a:rPr lang="en-US" sz="2000" i="1" dirty="0" err="1" smtClean="0"/>
              <a:t>payInterest</a:t>
            </a:r>
            <a:r>
              <a:rPr lang="en-US" sz="2000" dirty="0" smtClean="0"/>
              <a:t>()</a:t>
            </a:r>
          </a:p>
          <a:p>
            <a:pPr lvl="1"/>
            <a:r>
              <a:rPr lang="en-US" sz="2000" dirty="0" err="1" smtClean="0"/>
              <a:t>printAccount</a:t>
            </a:r>
            <a:r>
              <a:rPr lang="en-US" sz="2000" dirty="0" smtClean="0"/>
              <a:t>()</a:t>
            </a:r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165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Chapter 3: Inheritance</vt:lpstr>
      <vt:lpstr>Characteristics of Object-Oriented Languages</vt:lpstr>
      <vt:lpstr>Student administration world</vt:lpstr>
      <vt:lpstr>Student Administration world: OO - World </vt:lpstr>
      <vt:lpstr>Student enroll for courses and Teacher teaches courses</vt:lpstr>
      <vt:lpstr>PowerPoint Presentation</vt:lpstr>
      <vt:lpstr>Scenario</vt:lpstr>
      <vt:lpstr>List of objects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Rajashekharaiah</dc:creator>
  <cp:lastModifiedBy>Rajashekharaiah</cp:lastModifiedBy>
  <cp:revision>30</cp:revision>
  <dcterms:created xsi:type="dcterms:W3CDTF">2022-03-13T06:05:48Z</dcterms:created>
  <dcterms:modified xsi:type="dcterms:W3CDTF">2026-03-12T14:53:27Z</dcterms:modified>
</cp:coreProperties>
</file>